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36" autoAdjust="0"/>
    <p:restoredTop sz="86480" autoAdjust="0"/>
  </p:normalViewPr>
  <p:slideViewPr>
    <p:cSldViewPr>
      <p:cViewPr varScale="1">
        <p:scale>
          <a:sx n="92" d="100"/>
          <a:sy n="92" d="100"/>
        </p:scale>
        <p:origin x="93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0E9D9-4B57-773C-D50D-2A49AEB5A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98ACEA-1EEE-F6F7-F5AF-2B864D34B2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FE8A8-B6E0-1010-786A-E8E6C0196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09D2F-3D49-DECD-D586-FDE1B6F76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0C53C-C05C-C7F8-DA28-4900B9A0B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E76DEC-DFED-2B44-A581-44343526F69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5616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1D6D3-6685-3776-0848-50916D2BE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BCD0D-1B0E-8E91-9B26-C434CCCDC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DD0C7-2386-218E-4D16-23720E41F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AAB56-F358-A4E9-EEFE-E51CE7A6E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782A0-B6DB-37E1-AAA3-EDD881391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365781-6A5B-C44F-B6EA-E879D4BDD24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49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BEC74-777C-4895-4E10-72739C3BA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0BFD97-CE08-D9AD-89CB-4CBA8847F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DA270-D6DB-512F-991A-1C64D2524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952F4-91C7-B018-4050-ED4489954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13C12-27B2-EE62-BC06-4423F3F46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7151E-D23D-6445-A4BF-6BFF7FC877E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7886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423B8-907C-4A1D-8976-AC5056EC1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C9738-D950-3C2C-A1FF-D11DB32870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633F65-5BC8-A0C8-5677-04F4ECA61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4CF204-6080-2E72-078B-C0A11870B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8780DB-C9D0-6BD3-05D0-C9E89C9D9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FCF9BD-1F89-6960-5FA1-1C28E45A5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1BB0A7-B247-CE47-9FD2-CBB6C14173C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8266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EDF8A-ED7D-2FAC-EA15-0CA060E2F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AF4CF-B115-4378-8578-7805B0226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CB7D39-75CB-69FE-F1EF-4F53FFF689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552D1D-2CC4-E4A8-F1CD-51D5DBD4FB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D79252-F47B-42FB-DAE7-3D83BD6A97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39AF41-FF6F-0504-0C39-64CE2FAE3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A9BD01-5A6C-5F76-AAC1-88899012E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C7FBEA-9D52-4ABF-6A7D-103D89094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A8EC76-AE7A-A34E-B5BC-9FF8D468031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7681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11546-9F48-F699-4CDE-6C2D5C7FC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DC2646-D858-915C-863B-C5DEBB4C1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2692CE-AE69-E352-AD03-5811311B8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75D3E-AC00-E45F-D1F8-8AACE9711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2EB2E5-3A66-8B47-935D-BD1086EC323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0985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9BB920-8C14-1745-F555-E5684D359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0818AE-7590-9C76-B5DC-05A05126B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102CC-4E32-8ADD-A57D-3472906E8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7CAB10-7A18-6143-AA4D-175B01A1E1D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0674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720D7-CF38-D5DC-05BD-CA04DDB4D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08B22-27EF-18F6-15D6-E7DF97C63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02FAA5-9834-2C77-A71D-9C508588E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1F24D-F471-E972-FEA8-4642F3D25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C41EBC-51BA-D42A-FDD1-799E9B5A2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452CA-5944-0445-3B20-CB0B97E43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F48A7B-0BD0-DA45-BA38-9E9269D6FDC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4134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F17E1-161A-64DF-F247-40D856F07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2390CA-F593-B00E-437D-9C04AEFE68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94E1F9-F6E3-7609-6139-3B2845B2D7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423B14-926D-95B5-A65E-29020D441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BB9945-7E8B-C8DE-2149-E382F782D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689170-0E7E-9D5C-AB6E-7F8680234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62BA3B-5B02-FC4B-80DA-9C84D3396DB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6867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740A8-2A03-3692-EAAE-6FF09426C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59777E-93F7-019A-49BD-402FF94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42BB9-2197-7D99-4ADE-83A5B743C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EBC31-6280-1B28-DDFC-7E9A6DC8E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9CDE7-09B2-DDA8-BD64-12A5D0DFD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4CB8C7-008F-8648-ACA2-112DD442897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210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76A0DB-26BD-335C-2BB7-BE7BF7B1DD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0ED95F-1F78-9C7C-F91E-926DF8E3B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C69BC-B308-1876-CF14-B1F026EEB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EA8E8-FBE6-30A6-27C6-EA392A465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3DF9A-72D5-06A5-8683-AECBD5627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5726CF-D173-4043-BC31-91C6A7D06FB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3881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D233538-2176-9E2A-3C6D-F5C4219EDB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1AD3E24-9D87-4E98-9AFA-C3C67F400E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A23F892-87D0-4CF0-0E90-405DF7125B5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CCB75F8-C081-78AC-3DD9-FB9D80D05EC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9257B4D-1D20-12FE-EAC9-5F24A824BED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251EA15-3A15-8443-BFFF-28CA26387F7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>
            <a:extLst>
              <a:ext uri="{FF2B5EF4-FFF2-40B4-BE49-F238E27FC236}">
                <a16:creationId xmlns:a16="http://schemas.microsoft.com/office/drawing/2014/main" id="{4F5E9B35-21E7-DD53-D345-8F66D84ED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632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0" name="Rectangle 2">
            <a:extLst>
              <a:ext uri="{FF2B5EF4-FFF2-40B4-BE49-F238E27FC236}">
                <a16:creationId xmlns:a16="http://schemas.microsoft.com/office/drawing/2014/main" id="{DD243294-CF02-4C02-7AC7-F346A24AB77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55650" y="2349500"/>
            <a:ext cx="7632700" cy="1470025"/>
          </a:xfrm>
        </p:spPr>
        <p:txBody>
          <a:bodyPr anchor="ctr"/>
          <a:lstStyle/>
          <a:p>
            <a:r>
              <a:rPr lang="zh-CN" altLang="en-US" sz="36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智能视觉感知软件的对抗鲁棒性测试与自动化评估</a:t>
            </a:r>
            <a:endParaRPr lang="en-CN" altLang="en-CN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5F7E83-2C31-E4FF-F395-1910B1C2A82F}"/>
              </a:ext>
            </a:extLst>
          </p:cNvPr>
          <p:cNvSpPr txBox="1"/>
          <p:nvPr/>
        </p:nvSpPr>
        <p:spPr>
          <a:xfrm>
            <a:off x="6394529" y="4725144"/>
            <a:ext cx="2749471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b="0" i="0" u="none" strike="noStrike" dirty="0">
                <a:solidFill>
                  <a:srgbClr val="000000"/>
                </a:solidFill>
                <a:effectLst/>
              </a:rPr>
              <a:t>软件质量保障课程项目</a:t>
            </a:r>
          </a:p>
          <a:p>
            <a:pPr algn="l"/>
            <a:r>
              <a:rPr lang="zh-CN" altLang="en-US" sz="2000" b="0" i="0" u="none" strike="noStrike" dirty="0">
                <a:solidFill>
                  <a:srgbClr val="000000"/>
                </a:solidFill>
                <a:effectLst/>
              </a:rPr>
              <a:t>方向</a:t>
            </a:r>
            <a:r>
              <a:rPr lang="en-US" altLang="zh-CN" sz="2000" b="0" i="0" u="none" strike="noStrike" dirty="0">
                <a:solidFill>
                  <a:srgbClr val="000000"/>
                </a:solidFill>
                <a:effectLst/>
              </a:rPr>
              <a:t>8 </a:t>
            </a:r>
            <a:r>
              <a:rPr lang="zh-CN" altLang="en-US" sz="2000" b="0" i="0" u="none" strike="noStrike" dirty="0">
                <a:solidFill>
                  <a:srgbClr val="000000"/>
                </a:solidFill>
                <a:effectLst/>
              </a:rPr>
              <a:t>第</a:t>
            </a:r>
            <a:r>
              <a:rPr lang="en-US" altLang="zh-CN" sz="2000" b="0" i="0" u="none" strike="noStrike" dirty="0">
                <a:solidFill>
                  <a:srgbClr val="000000"/>
                </a:solidFill>
                <a:effectLst/>
              </a:rPr>
              <a:t>3</a:t>
            </a:r>
            <a:r>
              <a:rPr lang="zh-CN" altLang="en-US" sz="2000" b="0" i="0" u="none" strike="noStrike" dirty="0">
                <a:solidFill>
                  <a:srgbClr val="000000"/>
                </a:solidFill>
                <a:effectLst/>
              </a:rPr>
              <a:t>组</a:t>
            </a:r>
          </a:p>
          <a:p>
            <a:pPr algn="l"/>
            <a:r>
              <a:rPr lang="zh-CN" altLang="en-US" sz="2000" b="0" i="0" u="none" strike="noStrike" dirty="0">
                <a:solidFill>
                  <a:srgbClr val="000000"/>
                </a:solidFill>
                <a:effectLst/>
              </a:rPr>
              <a:t>杨语涵 杨偲彤 李昕媛</a:t>
            </a:r>
          </a:p>
          <a:p>
            <a:pPr algn="l"/>
            <a:r>
              <a:rPr lang="zh-CN" altLang="en-US" sz="2000" b="0" i="0" u="none" strike="noStrike" dirty="0">
                <a:solidFill>
                  <a:srgbClr val="000000"/>
                </a:solidFill>
                <a:effectLst/>
              </a:rPr>
              <a:t>丁雨菲 胡昊</a:t>
            </a:r>
          </a:p>
          <a:p>
            <a:endParaRPr lang="en-C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>
            <a:extLst>
              <a:ext uri="{FF2B5EF4-FFF2-40B4-BE49-F238E27FC236}">
                <a16:creationId xmlns:a16="http://schemas.microsoft.com/office/drawing/2014/main" id="{0BF6D97C-195E-8B88-6DAA-D8AF6DB82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4" name="Rectangle 2">
            <a:extLst>
              <a:ext uri="{FF2B5EF4-FFF2-40B4-BE49-F238E27FC236}">
                <a16:creationId xmlns:a16="http://schemas.microsoft.com/office/drawing/2014/main" id="{A13E5420-6807-CAB9-FF60-7FDD8CAAF9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31840" y="1"/>
            <a:ext cx="5554960" cy="731836"/>
          </a:xfrm>
        </p:spPr>
        <p:txBody>
          <a:bodyPr/>
          <a:lstStyle/>
          <a:p>
            <a:r>
              <a:rPr lang="zh-CN" altLang="en-US" sz="2400" dirty="0"/>
              <a:t>研究背景与动机（</a:t>
            </a:r>
            <a:r>
              <a:rPr lang="en-US" sz="2400" dirty="0"/>
              <a:t>Background &amp; Motivation）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4919494-0B36-D586-D9B1-31F42FB419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u="none" strike="noStrike" dirty="0">
                <a:effectLst/>
                <a:latin typeface="Google Sans"/>
              </a:rPr>
              <a:t>技术背景</a:t>
            </a:r>
            <a:r>
              <a:rPr lang="zh-CN" altLang="en-US" sz="2000" b="0" u="none" strike="noStrike" dirty="0">
                <a:effectLst/>
                <a:latin typeface="Google Sans"/>
              </a:rPr>
              <a:t>：深度神经网络（</a:t>
            </a:r>
            <a:r>
              <a:rPr lang="en-US" sz="2000" b="0" u="none" strike="noStrike" dirty="0">
                <a:effectLst/>
                <a:latin typeface="Google Sans"/>
              </a:rPr>
              <a:t>DNN）</a:t>
            </a:r>
            <a:r>
              <a:rPr lang="zh-CN" altLang="en-US" sz="2000" b="0" u="none" strike="noStrike" dirty="0">
                <a:effectLst/>
                <a:latin typeface="Google Sans"/>
              </a:rPr>
              <a:t>在人脸识别、自动驾驶等安全敏感场景发挥核心作用 </a:t>
            </a:r>
            <a:r>
              <a:rPr lang="en-US" altLang="zh-CN" sz="2000" b="0" u="none" strike="noStrike" dirty="0">
                <a:effectLst/>
                <a:latin typeface="Google Sans"/>
              </a:rPr>
              <a:t>(</a:t>
            </a:r>
            <a:r>
              <a:rPr lang="en-US" sz="2000" b="0" u="none" strike="noStrike" dirty="0">
                <a:effectLst/>
                <a:latin typeface="Google Sans"/>
              </a:rPr>
              <a:t>p. 2)。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u="none" strike="noStrike" dirty="0">
                <a:effectLst/>
                <a:latin typeface="Google Sans"/>
              </a:rPr>
              <a:t>核心威胁</a:t>
            </a:r>
            <a:r>
              <a:rPr lang="zh-CN" altLang="en-US" sz="2000" b="0" u="none" strike="noStrike" dirty="0">
                <a:effectLst/>
                <a:latin typeface="Google Sans"/>
              </a:rPr>
              <a:t>：对抗样本通过添加人眼难察的微小扰动，能以高置信度诱导模型犯错，暴露出决策边界的不平滑性 </a:t>
            </a:r>
            <a:r>
              <a:rPr lang="en-US" altLang="zh-CN" sz="2000" b="0" u="none" strike="noStrike" dirty="0">
                <a:effectLst/>
                <a:latin typeface="Google Sans"/>
              </a:rPr>
              <a:t>(</a:t>
            </a:r>
            <a:r>
              <a:rPr lang="en-US" sz="2000" b="0" u="none" strike="noStrike" dirty="0">
                <a:effectLst/>
                <a:latin typeface="Google Sans"/>
              </a:rPr>
              <a:t>p. 2)。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u="none" strike="noStrike" dirty="0">
                <a:effectLst/>
                <a:latin typeface="Google Sans"/>
              </a:rPr>
              <a:t>评估现状</a:t>
            </a:r>
            <a:r>
              <a:rPr lang="zh-CN" altLang="en-US" sz="2000" b="0" u="none" strike="noStrike" dirty="0">
                <a:effectLst/>
                <a:latin typeface="Google Sans"/>
              </a:rPr>
              <a:t>：传统评估重干净样本准确率，缺乏系统化、自动化的对抗鲁棒性测试标准 </a:t>
            </a:r>
            <a:r>
              <a:rPr lang="en-US" altLang="zh-CN" sz="2000" b="0" u="none" strike="noStrike" dirty="0">
                <a:effectLst/>
                <a:latin typeface="Google Sans"/>
              </a:rPr>
              <a:t>(</a:t>
            </a:r>
            <a:r>
              <a:rPr lang="en-US" sz="2000" b="0" u="none" strike="noStrike" dirty="0">
                <a:effectLst/>
                <a:latin typeface="Google Sans"/>
              </a:rPr>
              <a:t>p. 3)。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u="none" strike="noStrike" dirty="0">
                <a:effectLst/>
                <a:latin typeface="Google Sans"/>
              </a:rPr>
              <a:t>研究目标</a:t>
            </a:r>
            <a:r>
              <a:rPr lang="zh-CN" altLang="en-US" sz="2000" b="0" u="none" strike="noStrike" dirty="0">
                <a:effectLst/>
                <a:latin typeface="Google Sans"/>
              </a:rPr>
              <a:t>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b="0" u="none" strike="noStrike" dirty="0">
                <a:effectLst/>
                <a:latin typeface="Google Sans"/>
              </a:rPr>
              <a:t>构建支持多模型、多算法的“一键式”自动化评估框架 </a:t>
            </a:r>
            <a:r>
              <a:rPr lang="en-US" altLang="zh-CN" sz="2000" b="0" u="none" strike="noStrike" dirty="0">
                <a:effectLst/>
                <a:latin typeface="Google Sans"/>
              </a:rPr>
              <a:t>(</a:t>
            </a:r>
            <a:r>
              <a:rPr lang="en-US" sz="2000" b="0" u="none" strike="noStrike" dirty="0">
                <a:effectLst/>
                <a:latin typeface="Google Sans"/>
              </a:rPr>
              <a:t>p. 3)。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b="0" u="none" strike="noStrike" dirty="0">
                <a:effectLst/>
                <a:latin typeface="Google Sans"/>
              </a:rPr>
              <a:t>改进经典攻击算法以建立更严苛的鲁棒性评估基准 </a:t>
            </a:r>
            <a:r>
              <a:rPr lang="en-US" altLang="zh-CN" sz="2000" b="0" u="none" strike="noStrike" dirty="0">
                <a:effectLst/>
                <a:latin typeface="Google Sans"/>
              </a:rPr>
              <a:t>(</a:t>
            </a:r>
            <a:r>
              <a:rPr lang="en-US" sz="2000" b="0" u="none" strike="noStrike" dirty="0">
                <a:effectLst/>
                <a:latin typeface="Google Sans"/>
              </a:rPr>
              <a:t>pp. 1, 3)。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b="0" u="none" strike="noStrike" dirty="0">
                <a:effectLst/>
                <a:latin typeface="Google Sans"/>
              </a:rPr>
              <a:t>探索输入预处理防御机制的有效性与副作用 </a:t>
            </a:r>
            <a:r>
              <a:rPr lang="en-US" altLang="zh-CN" sz="2000" b="0" u="none" strike="noStrike" dirty="0">
                <a:effectLst/>
                <a:latin typeface="Google Sans"/>
              </a:rPr>
              <a:t>(</a:t>
            </a:r>
            <a:r>
              <a:rPr lang="en-US" sz="2000" b="0" u="none" strike="noStrike" dirty="0">
                <a:effectLst/>
                <a:latin typeface="Google Sans"/>
              </a:rPr>
              <a:t>p. 3)。</a:t>
            </a:r>
          </a:p>
          <a:p>
            <a:endParaRPr lang="en-CN" altLang="en-CN" sz="1800" dirty="0"/>
          </a:p>
        </p:txBody>
      </p:sp>
    </p:spTree>
    <p:extLst>
      <p:ext uri="{BB962C8B-B14F-4D97-AF65-F5344CB8AC3E}">
        <p14:creationId xmlns:p14="http://schemas.microsoft.com/office/powerpoint/2010/main" val="1293616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>
            <a:extLst>
              <a:ext uri="{FF2B5EF4-FFF2-40B4-BE49-F238E27FC236}">
                <a16:creationId xmlns:a16="http://schemas.microsoft.com/office/drawing/2014/main" id="{0BF6D97C-195E-8B88-6DAA-D8AF6DB82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4" name="Rectangle 2">
            <a:extLst>
              <a:ext uri="{FF2B5EF4-FFF2-40B4-BE49-F238E27FC236}">
                <a16:creationId xmlns:a16="http://schemas.microsoft.com/office/drawing/2014/main" id="{A13E5420-6807-CAB9-FF60-7FDD8CAAF9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31840" y="1"/>
            <a:ext cx="5554960" cy="731836"/>
          </a:xfrm>
        </p:spPr>
        <p:txBody>
          <a:bodyPr/>
          <a:lstStyle/>
          <a:p>
            <a:r>
              <a:rPr lang="zh-CN" altLang="en-US" sz="2400" dirty="0"/>
              <a:t>自动化鲁棒性评估框架架构（</a:t>
            </a:r>
            <a:r>
              <a:rPr lang="en-US" sz="2400" dirty="0"/>
              <a:t>System Architecture）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4919494-0B36-D586-D9B1-31F42FB419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u="none" strike="noStrike" dirty="0">
                <a:effectLst/>
                <a:latin typeface="Google Sans"/>
              </a:rPr>
              <a:t>流水线架构设计</a:t>
            </a:r>
            <a:r>
              <a:rPr lang="zh-CN" altLang="en-US" sz="2000" b="0" u="none" strike="noStrike" dirty="0">
                <a:effectLst/>
                <a:latin typeface="Google Sans"/>
              </a:rPr>
              <a:t>：数据准备 → 模型加载 → 对抗攻击 → 性能评估 → 报告生成 </a:t>
            </a:r>
            <a:r>
              <a:rPr lang="en-US" altLang="zh-CN" sz="2000" b="0" u="none" strike="noStrike" dirty="0">
                <a:effectLst/>
                <a:latin typeface="Google Sans"/>
              </a:rPr>
              <a:t>(</a:t>
            </a:r>
            <a:r>
              <a:rPr lang="en-US" sz="2000" b="0" u="none" strike="noStrike" dirty="0">
                <a:effectLst/>
                <a:latin typeface="Google Sans"/>
              </a:rPr>
              <a:t>p. 7)。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u="none" strike="noStrike" dirty="0">
                <a:effectLst/>
                <a:latin typeface="Google Sans"/>
              </a:rPr>
              <a:t>核心功能模块</a:t>
            </a:r>
            <a:r>
              <a:rPr lang="zh-CN" altLang="en-US" sz="2000" b="0" u="none" strike="noStrike" dirty="0">
                <a:effectLst/>
                <a:latin typeface="Google Sans"/>
              </a:rPr>
              <a:t>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b="1" u="none" strike="noStrike" dirty="0">
                <a:effectLst/>
                <a:latin typeface="Google Sans"/>
              </a:rPr>
              <a:t>数据与模型配置</a:t>
            </a:r>
            <a:r>
              <a:rPr lang="zh-CN" altLang="en-US" sz="2000" b="0" u="none" strike="noStrike" dirty="0">
                <a:effectLst/>
                <a:latin typeface="Google Sans"/>
              </a:rPr>
              <a:t>：基于 </a:t>
            </a:r>
            <a:r>
              <a:rPr lang="en-US" sz="2000" b="0" u="none" strike="noStrike" dirty="0">
                <a:effectLst/>
                <a:latin typeface="Google Sans"/>
              </a:rPr>
              <a:t>YAML </a:t>
            </a:r>
            <a:r>
              <a:rPr lang="zh-CN" altLang="en-US" sz="2000" b="0" u="none" strike="noStrike" dirty="0">
                <a:effectLst/>
                <a:latin typeface="Google Sans"/>
              </a:rPr>
              <a:t>文件灵活指定路径，支持归一化与批量加载 </a:t>
            </a:r>
            <a:r>
              <a:rPr lang="en-US" altLang="zh-CN" sz="2000" b="0" u="none" strike="noStrike" dirty="0">
                <a:effectLst/>
                <a:latin typeface="Google Sans"/>
              </a:rPr>
              <a:t>(</a:t>
            </a:r>
            <a:r>
              <a:rPr lang="en-US" sz="2000" b="0" u="none" strike="noStrike" dirty="0">
                <a:effectLst/>
                <a:latin typeface="Google Sans"/>
              </a:rPr>
              <a:t>p. 8)。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b="1" u="none" strike="noStrike" dirty="0">
                <a:effectLst/>
                <a:latin typeface="Google Sans"/>
              </a:rPr>
              <a:t>对抗攻击生成</a:t>
            </a:r>
            <a:r>
              <a:rPr lang="zh-CN" altLang="en-US" sz="2000" b="0" u="none" strike="noStrike" dirty="0">
                <a:effectLst/>
                <a:latin typeface="Google Sans"/>
              </a:rPr>
              <a:t>：基于 </a:t>
            </a:r>
            <a:r>
              <a:rPr lang="en-US" sz="2000" b="0" u="none" strike="noStrike" dirty="0" err="1">
                <a:effectLst/>
                <a:latin typeface="Google Sans"/>
              </a:rPr>
              <a:t>Torchattacks</a:t>
            </a:r>
            <a:r>
              <a:rPr lang="en-US" sz="2000" b="0" u="none" strike="noStrike" dirty="0">
                <a:effectLst/>
                <a:latin typeface="Google Sans"/>
              </a:rPr>
              <a:t> </a:t>
            </a:r>
            <a:r>
              <a:rPr lang="zh-CN" altLang="en-US" sz="2000" b="0" u="none" strike="noStrike" dirty="0">
                <a:effectLst/>
                <a:latin typeface="Google Sans"/>
              </a:rPr>
              <a:t>统一 </a:t>
            </a:r>
            <a:r>
              <a:rPr lang="en-US" sz="2000" b="0" u="none" strike="noStrike" dirty="0">
                <a:effectLst/>
                <a:latin typeface="Google Sans"/>
              </a:rPr>
              <a:t>API，</a:t>
            </a:r>
            <a:r>
              <a:rPr lang="zh-CN" altLang="en-US" sz="2000" b="0" u="none" strike="noStrike" dirty="0">
                <a:effectLst/>
                <a:latin typeface="Google Sans"/>
              </a:rPr>
              <a:t>集成 </a:t>
            </a:r>
            <a:r>
              <a:rPr lang="en-US" sz="2000" b="0" u="none" strike="noStrike" dirty="0" err="1">
                <a:effectLst/>
                <a:latin typeface="Google Sans"/>
              </a:rPr>
              <a:t>FGSM、PGD、C&amp;W、DeepFool</a:t>
            </a:r>
            <a:r>
              <a:rPr lang="en-US" sz="2000" b="0" u="none" strike="noStrike" dirty="0">
                <a:effectLst/>
                <a:latin typeface="Google Sans"/>
              </a:rPr>
              <a:t> </a:t>
            </a:r>
            <a:r>
              <a:rPr lang="zh-CN" altLang="en-US" sz="2000" b="0" u="none" strike="noStrike" dirty="0">
                <a:effectLst/>
                <a:latin typeface="Google Sans"/>
              </a:rPr>
              <a:t>等十余种主流算法 </a:t>
            </a:r>
            <a:r>
              <a:rPr lang="en-US" altLang="zh-CN" sz="2000" b="0" u="none" strike="noStrike" dirty="0">
                <a:effectLst/>
                <a:latin typeface="Google Sans"/>
              </a:rPr>
              <a:t>(</a:t>
            </a:r>
            <a:r>
              <a:rPr lang="en-US" sz="2000" b="0" u="none" strike="noStrike" dirty="0">
                <a:effectLst/>
                <a:latin typeface="Google Sans"/>
              </a:rPr>
              <a:t>p. 8)。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b="1" u="none" strike="noStrike" dirty="0">
                <a:effectLst/>
                <a:latin typeface="Google Sans"/>
              </a:rPr>
              <a:t>多维度指标评估</a:t>
            </a:r>
            <a:r>
              <a:rPr lang="zh-CN" altLang="en-US" sz="2000" b="0" u="none" strike="noStrike" dirty="0">
                <a:effectLst/>
                <a:latin typeface="Google Sans"/>
              </a:rPr>
              <a:t>：计算攻击成功率（</a:t>
            </a:r>
            <a:r>
              <a:rPr lang="en-US" sz="2000" b="0" u="none" strike="noStrike" dirty="0">
                <a:effectLst/>
                <a:latin typeface="Google Sans"/>
              </a:rPr>
              <a:t>ASR）、</a:t>
            </a:r>
            <a:r>
              <a:rPr lang="zh-CN" altLang="en-US" sz="2000" b="0" u="none" strike="noStrike" dirty="0">
                <a:effectLst/>
                <a:latin typeface="Google Sans"/>
              </a:rPr>
              <a:t>对抗准确率、扰动距离（</a:t>
            </a:r>
            <a:r>
              <a:rPr lang="en-US" altLang="zh-CN" sz="2000" b="0" u="none" strike="noStrike" dirty="0">
                <a:effectLst/>
                <a:latin typeface="Google Sans"/>
              </a:rPr>
              <a:t>\(</a:t>
            </a:r>
            <a:r>
              <a:rPr lang="en-US" sz="2000" b="0" u="none" strike="noStrike" dirty="0">
                <a:effectLst/>
                <a:latin typeface="Google Sans"/>
              </a:rPr>
              <a:t>L_2, L_\</a:t>
            </a:r>
            <a:r>
              <a:rPr lang="en-US" sz="2000" b="0" u="none" strike="noStrike" dirty="0" err="1">
                <a:effectLst/>
                <a:latin typeface="Google Sans"/>
              </a:rPr>
              <a:t>infty</a:t>
            </a:r>
            <a:r>
              <a:rPr lang="en-US" sz="2000" b="0" u="none" strike="noStrike" dirty="0">
                <a:effectLst/>
                <a:latin typeface="Google Sans"/>
              </a:rPr>
              <a:t>\)）</a:t>
            </a:r>
            <a:r>
              <a:rPr lang="zh-CN" altLang="en-US" sz="2000" b="0" u="none" strike="noStrike" dirty="0">
                <a:effectLst/>
                <a:latin typeface="Google Sans"/>
              </a:rPr>
              <a:t>及防御有效率 </a:t>
            </a:r>
            <a:r>
              <a:rPr lang="en-US" altLang="zh-CN" sz="2000" b="0" u="none" strike="noStrike" dirty="0">
                <a:effectLst/>
                <a:latin typeface="Google Sans"/>
              </a:rPr>
              <a:t>(</a:t>
            </a:r>
            <a:r>
              <a:rPr lang="en-US" sz="2000" b="0" u="none" strike="noStrike" dirty="0">
                <a:effectLst/>
                <a:latin typeface="Google Sans"/>
              </a:rPr>
              <a:t>pp. 8-9)。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b="1" u="none" strike="noStrike" dirty="0">
                <a:effectLst/>
                <a:latin typeface="Google Sans"/>
              </a:rPr>
              <a:t>报告自动化生成</a:t>
            </a:r>
            <a:r>
              <a:rPr lang="zh-CN" altLang="en-US" sz="2000" b="0" u="none" strike="noStrike" dirty="0">
                <a:effectLst/>
                <a:latin typeface="Google Sans"/>
              </a:rPr>
              <a:t>：自动绘制关系折线图，生成结构化 </a:t>
            </a:r>
            <a:r>
              <a:rPr lang="en-US" sz="2000" b="0" u="none" strike="noStrike" dirty="0">
                <a:effectLst/>
                <a:latin typeface="Google Sans"/>
              </a:rPr>
              <a:t>Markdown </a:t>
            </a:r>
            <a:r>
              <a:rPr lang="zh-CN" altLang="en-US" sz="2000" b="0" u="none" strike="noStrike" dirty="0">
                <a:effectLst/>
                <a:latin typeface="Google Sans"/>
              </a:rPr>
              <a:t>评估报告 </a:t>
            </a:r>
            <a:r>
              <a:rPr lang="en-US" altLang="zh-CN" sz="2000" b="0" u="none" strike="noStrike" dirty="0">
                <a:effectLst/>
                <a:latin typeface="Google Sans"/>
              </a:rPr>
              <a:t>(</a:t>
            </a:r>
            <a:r>
              <a:rPr lang="en-US" sz="2000" b="0" u="none" strike="noStrike" dirty="0">
                <a:effectLst/>
                <a:latin typeface="Google Sans"/>
              </a:rPr>
              <a:t>p. 8)。</a:t>
            </a:r>
          </a:p>
          <a:p>
            <a:endParaRPr lang="en-CN" altLang="en-CN" sz="1800" dirty="0"/>
          </a:p>
        </p:txBody>
      </p:sp>
    </p:spTree>
    <p:extLst>
      <p:ext uri="{BB962C8B-B14F-4D97-AF65-F5344CB8AC3E}">
        <p14:creationId xmlns:p14="http://schemas.microsoft.com/office/powerpoint/2010/main" val="240974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>
            <a:extLst>
              <a:ext uri="{FF2B5EF4-FFF2-40B4-BE49-F238E27FC236}">
                <a16:creationId xmlns:a16="http://schemas.microsoft.com/office/drawing/2014/main" id="{0BF6D97C-195E-8B88-6DAA-D8AF6DB82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4" name="Rectangle 2">
            <a:extLst>
              <a:ext uri="{FF2B5EF4-FFF2-40B4-BE49-F238E27FC236}">
                <a16:creationId xmlns:a16="http://schemas.microsoft.com/office/drawing/2014/main" id="{A13E5420-6807-CAB9-FF60-7FDD8CAAF9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31840" y="1"/>
            <a:ext cx="5554960" cy="731836"/>
          </a:xfrm>
        </p:spPr>
        <p:txBody>
          <a:bodyPr/>
          <a:lstStyle/>
          <a:p>
            <a:r>
              <a:rPr lang="zh-CN" altLang="en-US" sz="2400" dirty="0"/>
              <a:t>创新方法：自适应步长攻击策略（</a:t>
            </a:r>
            <a:r>
              <a:rPr lang="en-US" sz="2400" dirty="0"/>
              <a:t>PGD-AS）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4919494-0B36-D586-D9B1-31F42FB419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u="none" strike="noStrike" dirty="0">
                <a:effectLst/>
                <a:latin typeface="Google Sans"/>
              </a:rPr>
              <a:t>标准 </a:t>
            </a:r>
            <a:r>
              <a:rPr lang="en-US" sz="2000" b="1" u="none" strike="noStrike" dirty="0">
                <a:effectLst/>
                <a:latin typeface="Google Sans"/>
              </a:rPr>
              <a:t>PGD </a:t>
            </a:r>
            <a:r>
              <a:rPr lang="zh-CN" altLang="en-US" sz="2000" b="1" u="none" strike="noStrike" dirty="0">
                <a:effectLst/>
                <a:latin typeface="Google Sans"/>
              </a:rPr>
              <a:t>算法缺陷</a:t>
            </a:r>
            <a:r>
              <a:rPr lang="zh-CN" altLang="en-US" sz="2000" b="0" u="none" strike="noStrike" dirty="0">
                <a:effectLst/>
                <a:latin typeface="Google Sans"/>
              </a:rPr>
              <a:t>：固定步长在前期导致探索不足（易陷局部最优），后期在决策边界附近易产生来回震荡 </a:t>
            </a:r>
            <a:r>
              <a:rPr lang="en-US" altLang="zh-CN" sz="2000" b="0" u="none" strike="noStrike" dirty="0">
                <a:effectLst/>
                <a:latin typeface="Google Sans"/>
              </a:rPr>
              <a:t>(</a:t>
            </a:r>
            <a:r>
              <a:rPr lang="en-US" sz="2000" b="0" u="none" strike="noStrike" dirty="0">
                <a:effectLst/>
                <a:latin typeface="Google Sans"/>
              </a:rPr>
              <a:t>p. 10)。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u="none" strike="noStrike" dirty="0">
                <a:effectLst/>
                <a:latin typeface="Google Sans"/>
              </a:rPr>
              <a:t>改进策略（</a:t>
            </a:r>
            <a:r>
              <a:rPr lang="en-US" sz="2000" b="1" u="none" strike="noStrike" dirty="0">
                <a:effectLst/>
                <a:latin typeface="Google Sans"/>
              </a:rPr>
              <a:t>PGD-AS）</a:t>
            </a:r>
            <a:r>
              <a:rPr lang="en-US" sz="2000" b="0" u="none" strike="noStrike" dirty="0">
                <a:effectLst/>
                <a:latin typeface="Google Sans"/>
              </a:rPr>
              <a:t>：</a:t>
            </a:r>
            <a:r>
              <a:rPr lang="zh-CN" altLang="en-US" sz="2000" b="0" u="none" strike="noStrike" dirty="0">
                <a:effectLst/>
                <a:latin typeface="Google Sans"/>
              </a:rPr>
              <a:t>引入指数衰减步长公式，实现“前期大步探索、后期小步精调”的自适应调度 </a:t>
            </a:r>
            <a:r>
              <a:rPr lang="en-US" altLang="zh-CN" sz="2000" b="0" u="none" strike="noStrike" dirty="0">
                <a:effectLst/>
                <a:latin typeface="Google Sans"/>
              </a:rPr>
              <a:t>(</a:t>
            </a:r>
            <a:r>
              <a:rPr lang="en-US" sz="2000" b="0" u="none" strike="noStrike" dirty="0">
                <a:effectLst/>
                <a:latin typeface="Google Sans"/>
              </a:rPr>
              <a:t>pp. 1, 10)。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u="none" strike="noStrike" dirty="0">
                <a:effectLst/>
                <a:latin typeface="Google Sans"/>
              </a:rPr>
              <a:t>理论优势</a:t>
            </a:r>
            <a:r>
              <a:rPr lang="zh-CN" altLang="en-US" sz="2000" b="0" u="none" strike="noStrike" dirty="0">
                <a:effectLst/>
                <a:latin typeface="Google Sans"/>
              </a:rPr>
              <a:t>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b="1" u="none" strike="noStrike" dirty="0">
                <a:effectLst/>
                <a:latin typeface="Google Sans"/>
              </a:rPr>
              <a:t>大步探索阶段</a:t>
            </a:r>
            <a:r>
              <a:rPr lang="zh-CN" altLang="en-US" sz="2000" b="0" u="none" strike="noStrike" dirty="0">
                <a:effectLst/>
                <a:latin typeface="Google Sans"/>
              </a:rPr>
              <a:t>：快速穿越低曲率区域，提升寻找全局最优解的概率 </a:t>
            </a:r>
            <a:r>
              <a:rPr lang="en-US" altLang="zh-CN" sz="2000" b="0" u="none" strike="noStrike" dirty="0">
                <a:effectLst/>
                <a:latin typeface="Google Sans"/>
              </a:rPr>
              <a:t>(</a:t>
            </a:r>
            <a:r>
              <a:rPr lang="en-US" sz="2000" b="0" u="none" strike="noStrike" dirty="0">
                <a:effectLst/>
                <a:latin typeface="Google Sans"/>
              </a:rPr>
              <a:t>p. 11)。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b="1" u="none" strike="noStrike" dirty="0">
                <a:effectLst/>
                <a:latin typeface="Google Sans"/>
              </a:rPr>
              <a:t>小步精调阶段</a:t>
            </a:r>
            <a:r>
              <a:rPr lang="zh-CN" altLang="en-US" sz="2000" b="0" u="none" strike="noStrike" dirty="0">
                <a:effectLst/>
                <a:latin typeface="Google Sans"/>
              </a:rPr>
              <a:t>：降低更新幅度，减少边界无效震荡，更精确地逼近最坏情况损失上限 </a:t>
            </a:r>
            <a:r>
              <a:rPr lang="en-US" altLang="zh-CN" sz="2000" b="0" u="none" strike="noStrike" dirty="0">
                <a:effectLst/>
                <a:latin typeface="Google Sans"/>
              </a:rPr>
              <a:t>(</a:t>
            </a:r>
            <a:r>
              <a:rPr lang="en-US" sz="2000" b="0" u="none" strike="noStrike" dirty="0">
                <a:effectLst/>
                <a:latin typeface="Google Sans"/>
              </a:rPr>
              <a:t>pp. 11-12)。</a:t>
            </a:r>
          </a:p>
          <a:p>
            <a:endParaRPr lang="en-CN" altLang="en-CN" sz="1800" dirty="0"/>
          </a:p>
        </p:txBody>
      </p:sp>
    </p:spTree>
    <p:extLst>
      <p:ext uri="{BB962C8B-B14F-4D97-AF65-F5344CB8AC3E}">
        <p14:creationId xmlns:p14="http://schemas.microsoft.com/office/powerpoint/2010/main" val="2549024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>
            <a:extLst>
              <a:ext uri="{FF2B5EF4-FFF2-40B4-BE49-F238E27FC236}">
                <a16:creationId xmlns:a16="http://schemas.microsoft.com/office/drawing/2014/main" id="{0BF6D97C-195E-8B88-6DAA-D8AF6DB82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4" name="Rectangle 2">
            <a:extLst>
              <a:ext uri="{FF2B5EF4-FFF2-40B4-BE49-F238E27FC236}">
                <a16:creationId xmlns:a16="http://schemas.microsoft.com/office/drawing/2014/main" id="{A13E5420-6807-CAB9-FF60-7FDD8CAAF9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31840" y="1"/>
            <a:ext cx="5554960" cy="731836"/>
          </a:xfrm>
        </p:spPr>
        <p:txBody>
          <a:bodyPr/>
          <a:lstStyle/>
          <a:p>
            <a:r>
              <a:rPr lang="zh-CN" altLang="en-US" sz="2400" dirty="0"/>
              <a:t>攻击复现与自适应对比实验（</a:t>
            </a:r>
            <a:r>
              <a:rPr lang="en-US" sz="2400" dirty="0"/>
              <a:t>Experimental Results）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4919494-0B36-D586-D9B1-31F42FB419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0" y="836712"/>
            <a:ext cx="4114800" cy="528945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u="none" strike="noStrike" dirty="0">
                <a:effectLst/>
                <a:latin typeface="Google Sans"/>
              </a:rPr>
              <a:t>FGSM </a:t>
            </a:r>
            <a:r>
              <a:rPr lang="zh-CN" altLang="en-US" sz="2000" b="1" u="none" strike="noStrike" dirty="0">
                <a:effectLst/>
                <a:latin typeface="Google Sans"/>
              </a:rPr>
              <a:t>攻击复现</a:t>
            </a:r>
            <a:r>
              <a:rPr lang="zh-CN" altLang="en-US" sz="2000" b="0" u="none" strike="noStrike" dirty="0">
                <a:effectLst/>
                <a:latin typeface="Google Sans"/>
              </a:rPr>
              <a:t>：在 </a:t>
            </a:r>
            <a:r>
              <a:rPr lang="en-US" sz="2000" b="0" u="none" strike="noStrike" dirty="0">
                <a:effectLst/>
                <a:latin typeface="Google Sans"/>
              </a:rPr>
              <a:t>CIFAR-10 </a:t>
            </a:r>
            <a:r>
              <a:rPr lang="zh-CN" altLang="en-US" sz="2000" b="0" u="none" strike="noStrike" dirty="0">
                <a:effectLst/>
                <a:latin typeface="Google Sans"/>
              </a:rPr>
              <a:t>上随着扰动 </a:t>
            </a:r>
            <a:r>
              <a:rPr lang="en-US" altLang="zh-CN" sz="2000" b="0" u="none" strike="noStrike" dirty="0">
                <a:effectLst/>
                <a:latin typeface="Google Sans"/>
              </a:rPr>
              <a:t>\(\</a:t>
            </a:r>
            <a:r>
              <a:rPr lang="en-US" sz="2000" b="0" u="none" strike="noStrike" dirty="0">
                <a:effectLst/>
                <a:latin typeface="Google Sans"/>
              </a:rPr>
              <a:t>epsilon \) </a:t>
            </a:r>
            <a:r>
              <a:rPr lang="zh-CN" altLang="en-US" sz="2000" b="0" u="none" strike="noStrike" dirty="0">
                <a:effectLst/>
                <a:latin typeface="Google Sans"/>
              </a:rPr>
              <a:t>增大，</a:t>
            </a:r>
            <a:r>
              <a:rPr lang="en-US" sz="2000" b="0" u="none" strike="noStrike" dirty="0">
                <a:effectLst/>
                <a:latin typeface="Google Sans"/>
              </a:rPr>
              <a:t>Acc </a:t>
            </a:r>
            <a:r>
              <a:rPr lang="zh-CN" altLang="en-US" sz="2000" b="0" u="none" strike="noStrike" dirty="0">
                <a:effectLst/>
                <a:latin typeface="Google Sans"/>
              </a:rPr>
              <a:t>单调递减，当 </a:t>
            </a:r>
            <a:r>
              <a:rPr lang="en-US" altLang="zh-CN" sz="2000" b="0" u="none" strike="noStrike" dirty="0">
                <a:effectLst/>
                <a:latin typeface="Google Sans"/>
              </a:rPr>
              <a:t>\(\</a:t>
            </a:r>
            <a:r>
              <a:rPr lang="en-US" sz="2000" b="0" u="none" strike="noStrike" dirty="0">
                <a:effectLst/>
                <a:latin typeface="Google Sans"/>
              </a:rPr>
              <a:t>epsilon=0.1\) </a:t>
            </a:r>
            <a:r>
              <a:rPr lang="zh-CN" altLang="en-US" sz="2000" b="0" u="none" strike="noStrike" dirty="0">
                <a:effectLst/>
                <a:latin typeface="Google Sans"/>
              </a:rPr>
              <a:t>时准确率降至 </a:t>
            </a:r>
            <a:r>
              <a:rPr lang="en-US" altLang="zh-CN" sz="2000" b="0" u="none" strike="noStrike" dirty="0">
                <a:effectLst/>
                <a:latin typeface="Google Sans"/>
              </a:rPr>
              <a:t>11.8%</a:t>
            </a:r>
            <a:r>
              <a:rPr lang="zh-CN" altLang="en-US" sz="2000" b="0" u="none" strike="noStrike" dirty="0">
                <a:effectLst/>
                <a:latin typeface="Google Sans"/>
              </a:rPr>
              <a:t>，验证了攻击有效性 </a:t>
            </a:r>
            <a:r>
              <a:rPr lang="en-US" altLang="zh-CN" sz="2000" b="0" u="none" strike="noStrike" dirty="0">
                <a:effectLst/>
                <a:latin typeface="Google Sans"/>
              </a:rPr>
              <a:t>(</a:t>
            </a:r>
            <a:r>
              <a:rPr lang="en-US" sz="2000" b="0" u="none" strike="noStrike" dirty="0">
                <a:effectLst/>
                <a:latin typeface="Google Sans"/>
              </a:rPr>
              <a:t>p. 13)。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u="none" strike="noStrike" dirty="0">
                <a:effectLst/>
                <a:latin typeface="Google Sans"/>
              </a:rPr>
              <a:t>PGD vs PGD-AS </a:t>
            </a:r>
            <a:r>
              <a:rPr lang="zh-CN" altLang="en-US" sz="2000" b="1" u="none" strike="noStrike" dirty="0">
                <a:effectLst/>
                <a:latin typeface="Google Sans"/>
              </a:rPr>
              <a:t>对比实验</a:t>
            </a:r>
            <a:r>
              <a:rPr lang="zh-CN" altLang="en-US" sz="2000" b="0" u="none" strike="noStrike" dirty="0">
                <a:effectLst/>
                <a:latin typeface="Google Sans"/>
              </a:rPr>
              <a:t>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b="0" u="none" strike="noStrike" dirty="0">
                <a:effectLst/>
                <a:latin typeface="Google Sans"/>
              </a:rPr>
              <a:t>在所有扰动强度与迭代次数下，</a:t>
            </a:r>
            <a:r>
              <a:rPr lang="en-US" sz="2000" b="0" u="none" strike="noStrike" dirty="0">
                <a:effectLst/>
                <a:latin typeface="Google Sans"/>
              </a:rPr>
              <a:t>PGD-AS </a:t>
            </a:r>
            <a:r>
              <a:rPr lang="zh-CN" altLang="en-US" sz="2000" b="0" u="none" strike="noStrike" dirty="0">
                <a:effectLst/>
                <a:latin typeface="Google Sans"/>
              </a:rPr>
              <a:t>的攻击成功率（</a:t>
            </a:r>
            <a:r>
              <a:rPr lang="en-US" sz="2000" b="0" u="none" strike="noStrike" dirty="0">
                <a:effectLst/>
                <a:latin typeface="Google Sans"/>
              </a:rPr>
              <a:t>ASR）</a:t>
            </a:r>
            <a:r>
              <a:rPr lang="zh-CN" altLang="en-US" sz="2000" b="0" u="none" strike="noStrike" dirty="0">
                <a:effectLst/>
                <a:latin typeface="Google Sans"/>
              </a:rPr>
              <a:t>均全面超越标准 </a:t>
            </a:r>
            <a:r>
              <a:rPr lang="en-US" sz="2000" b="0" u="none" strike="noStrike" dirty="0">
                <a:effectLst/>
                <a:latin typeface="Google Sans"/>
              </a:rPr>
              <a:t>PGD (p. 14)。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b="1" u="none" strike="noStrike" dirty="0">
                <a:effectLst/>
                <a:latin typeface="Google Sans"/>
              </a:rPr>
              <a:t>预算受限场景</a:t>
            </a:r>
            <a:r>
              <a:rPr lang="zh-CN" altLang="en-US" sz="2000" b="0" u="none" strike="noStrike" dirty="0">
                <a:effectLst/>
                <a:latin typeface="Google Sans"/>
              </a:rPr>
              <a:t>：在低 </a:t>
            </a:r>
            <a:r>
              <a:rPr lang="en-US" altLang="zh-CN" sz="2000" b="0" u="none" strike="noStrike" dirty="0">
                <a:effectLst/>
                <a:latin typeface="Google Sans"/>
              </a:rPr>
              <a:t>\(\</a:t>
            </a:r>
            <a:r>
              <a:rPr lang="en-US" sz="2000" b="0" u="none" strike="noStrike" dirty="0">
                <a:effectLst/>
                <a:latin typeface="Google Sans"/>
              </a:rPr>
              <a:t>epsilon \)（0.03）</a:t>
            </a:r>
            <a:r>
              <a:rPr lang="zh-CN" altLang="en-US" sz="2000" b="0" u="none" strike="noStrike" dirty="0">
                <a:effectLst/>
                <a:latin typeface="Google Sans"/>
              </a:rPr>
              <a:t>和低迭代（</a:t>
            </a:r>
            <a:r>
              <a:rPr lang="en-US" sz="2000" b="0" u="none" strike="noStrike" dirty="0">
                <a:effectLst/>
                <a:latin typeface="Google Sans"/>
              </a:rPr>
              <a:t>T=7）</a:t>
            </a:r>
            <a:r>
              <a:rPr lang="zh-CN" altLang="en-US" sz="2000" b="0" u="none" strike="noStrike" dirty="0">
                <a:effectLst/>
                <a:latin typeface="Google Sans"/>
              </a:rPr>
              <a:t>时提升最显著（</a:t>
            </a:r>
            <a:r>
              <a:rPr lang="en-US" sz="2000" b="0" u="none" strike="noStrike" dirty="0">
                <a:effectLst/>
                <a:latin typeface="Google Sans"/>
              </a:rPr>
              <a:t>ASR +4.4%），</a:t>
            </a:r>
            <a:r>
              <a:rPr lang="zh-CN" altLang="en-US" sz="2000" b="0" u="none" strike="noStrike" dirty="0">
                <a:effectLst/>
                <a:latin typeface="Google Sans"/>
              </a:rPr>
              <a:t>展现出更高的探索效率 </a:t>
            </a:r>
            <a:r>
              <a:rPr lang="en-US" altLang="zh-CN" sz="2000" b="0" u="none" strike="noStrike" dirty="0">
                <a:effectLst/>
                <a:latin typeface="Google Sans"/>
              </a:rPr>
              <a:t>(</a:t>
            </a:r>
            <a:r>
              <a:rPr lang="en-US" sz="2000" b="0" u="none" strike="noStrike" dirty="0">
                <a:effectLst/>
                <a:latin typeface="Google Sans"/>
              </a:rPr>
              <a:t>p. 14)。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b="1" u="none" strike="noStrike" dirty="0">
                <a:effectLst/>
                <a:latin typeface="Google Sans"/>
              </a:rPr>
              <a:t>结论</a:t>
            </a:r>
            <a:r>
              <a:rPr lang="zh-CN" altLang="en-US" sz="2000" b="0" u="none" strike="noStrike" dirty="0">
                <a:effectLst/>
                <a:latin typeface="Google Sans"/>
              </a:rPr>
              <a:t>：</a:t>
            </a:r>
            <a:r>
              <a:rPr lang="en-US" sz="2000" b="0" u="none" strike="noStrike" dirty="0">
                <a:effectLst/>
                <a:latin typeface="Google Sans"/>
              </a:rPr>
              <a:t>PGD-AS </a:t>
            </a:r>
            <a:r>
              <a:rPr lang="zh-CN" altLang="en-US" sz="2000" b="0" u="none" strike="noStrike" dirty="0">
                <a:effectLst/>
                <a:latin typeface="Google Sans"/>
              </a:rPr>
              <a:t>能够提供更强烈的攻击基准，更严苛地评估视觉模型的鲁棒性上限 </a:t>
            </a:r>
            <a:r>
              <a:rPr lang="en-US" altLang="zh-CN" sz="2000" b="0" u="none" strike="noStrike" dirty="0">
                <a:effectLst/>
                <a:latin typeface="Google Sans"/>
              </a:rPr>
              <a:t>(</a:t>
            </a:r>
            <a:r>
              <a:rPr lang="en-US" sz="2000" b="0" u="none" strike="noStrike" dirty="0">
                <a:effectLst/>
                <a:latin typeface="Google Sans"/>
              </a:rPr>
              <a:t>p. 1)。</a:t>
            </a:r>
          </a:p>
          <a:p>
            <a:endParaRPr lang="en-CN" altLang="en-CN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1C6C3D-0357-4AF1-B4D0-D19D0ECB5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0808"/>
            <a:ext cx="4427984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51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>
            <a:extLst>
              <a:ext uri="{FF2B5EF4-FFF2-40B4-BE49-F238E27FC236}">
                <a16:creationId xmlns:a16="http://schemas.microsoft.com/office/drawing/2014/main" id="{0BF6D97C-195E-8B88-6DAA-D8AF6DB82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4" name="Rectangle 2">
            <a:extLst>
              <a:ext uri="{FF2B5EF4-FFF2-40B4-BE49-F238E27FC236}">
                <a16:creationId xmlns:a16="http://schemas.microsoft.com/office/drawing/2014/main" id="{A13E5420-6807-CAB9-FF60-7FDD8CAAF9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31840" y="1"/>
            <a:ext cx="5554960" cy="731836"/>
          </a:xfrm>
        </p:spPr>
        <p:txBody>
          <a:bodyPr/>
          <a:lstStyle/>
          <a:p>
            <a:r>
              <a:rPr lang="zh-CN" altLang="en-US" sz="2400" dirty="0"/>
              <a:t>输入预处理防御机制评估（</a:t>
            </a:r>
            <a:r>
              <a:rPr lang="en-US" sz="2400" dirty="0"/>
              <a:t>Defense Strategy）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4919494-0B36-D586-D9B1-31F42FB419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0" y="1600200"/>
            <a:ext cx="4114800" cy="452596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u="none" strike="noStrike" dirty="0">
                <a:effectLst/>
                <a:latin typeface="Google Sans"/>
              </a:rPr>
              <a:t>测试对象</a:t>
            </a:r>
            <a:r>
              <a:rPr lang="zh-CN" altLang="en-US" sz="2000" b="0" u="none" strike="noStrike" dirty="0">
                <a:effectLst/>
                <a:latin typeface="Google Sans"/>
              </a:rPr>
              <a:t>：评估了高斯模糊、</a:t>
            </a:r>
            <a:r>
              <a:rPr lang="en-US" sz="2000" b="0" u="none" strike="noStrike" dirty="0">
                <a:effectLst/>
                <a:latin typeface="Google Sans"/>
              </a:rPr>
              <a:t>JPEG </a:t>
            </a:r>
            <a:r>
              <a:rPr lang="zh-CN" altLang="en-US" sz="2000" b="0" u="none" strike="noStrike" dirty="0">
                <a:effectLst/>
                <a:latin typeface="Google Sans"/>
              </a:rPr>
              <a:t>压缩、随机平滑三种预处理手段 </a:t>
            </a:r>
            <a:r>
              <a:rPr lang="en-US" altLang="zh-CN" sz="2000" b="0" u="none" strike="noStrike" dirty="0">
                <a:effectLst/>
                <a:latin typeface="Google Sans"/>
              </a:rPr>
              <a:t>(</a:t>
            </a:r>
            <a:r>
              <a:rPr lang="en-US" sz="2000" b="0" u="none" strike="noStrike" dirty="0">
                <a:effectLst/>
                <a:latin typeface="Google Sans"/>
              </a:rPr>
              <a:t>p. 15)。</a:t>
            </a:r>
            <a:r>
              <a:rPr lang="zh-CN" altLang="en-US" sz="2000" b="1" u="none" strike="noStrike" dirty="0">
                <a:effectLst/>
                <a:latin typeface="Google Sans"/>
              </a:rPr>
              <a:t>核心洞察（权衡关系）</a:t>
            </a:r>
            <a:r>
              <a:rPr lang="zh-CN" altLang="en-US" sz="2000" b="0" u="none" strike="noStrike" dirty="0">
                <a:effectLst/>
                <a:latin typeface="Google Sans"/>
              </a:rPr>
              <a:t>：所有预处理防御均能降低 </a:t>
            </a:r>
            <a:r>
              <a:rPr lang="en-US" sz="2000" b="0" u="none" strike="noStrike" dirty="0">
                <a:effectLst/>
                <a:latin typeface="Google Sans"/>
              </a:rPr>
              <a:t>ASR，</a:t>
            </a:r>
            <a:r>
              <a:rPr lang="zh-CN" altLang="en-US" sz="2000" b="0" u="none" strike="noStrike" dirty="0">
                <a:effectLst/>
                <a:latin typeface="Google Sans"/>
              </a:rPr>
              <a:t>但均以牺牲干净样本准确率为代价 </a:t>
            </a:r>
            <a:r>
              <a:rPr lang="en-US" altLang="zh-CN" sz="2000" b="0" u="none" strike="noStrike" dirty="0">
                <a:effectLst/>
                <a:latin typeface="Google Sans"/>
              </a:rPr>
              <a:t>(</a:t>
            </a:r>
            <a:r>
              <a:rPr lang="en-US" sz="2000" b="0" u="none" strike="noStrike" dirty="0">
                <a:effectLst/>
                <a:latin typeface="Google Sans"/>
              </a:rPr>
              <a:t>p. 15)。</a:t>
            </a:r>
            <a:r>
              <a:rPr lang="zh-CN" altLang="en-US" sz="2000" b="1" u="none" strike="noStrike" dirty="0">
                <a:effectLst/>
                <a:latin typeface="Google Sans"/>
              </a:rPr>
              <a:t>机制表现对比</a:t>
            </a:r>
            <a:r>
              <a:rPr lang="zh-CN" altLang="en-US" sz="2000" b="0" u="none" strike="noStrike" dirty="0">
                <a:effectLst/>
                <a:latin typeface="Google Sans"/>
              </a:rPr>
              <a:t>：</a:t>
            </a:r>
            <a:r>
              <a:rPr lang="zh-CN" altLang="en-US" sz="2000" b="1" u="none" strike="noStrike" dirty="0">
                <a:effectLst/>
                <a:latin typeface="Google Sans"/>
              </a:rPr>
              <a:t>随机平滑</a:t>
            </a:r>
            <a:r>
              <a:rPr lang="zh-CN" altLang="en-US" sz="2000" b="0" u="none" strike="noStrike" dirty="0">
                <a:effectLst/>
                <a:latin typeface="Google Sans"/>
              </a:rPr>
              <a:t>：防御效果最佳（有效率 </a:t>
            </a:r>
            <a:r>
              <a:rPr lang="en-US" altLang="zh-CN" sz="2000" b="0" u="none" strike="noStrike" dirty="0">
                <a:effectLst/>
                <a:latin typeface="Google Sans"/>
              </a:rPr>
              <a:t>59.7%</a:t>
            </a:r>
            <a:r>
              <a:rPr lang="zh-CN" altLang="en-US" sz="2000" b="0" u="none" strike="noStrike" dirty="0">
                <a:effectLst/>
                <a:latin typeface="Google Sans"/>
              </a:rPr>
              <a:t>），但干净准确率损失最大（</a:t>
            </a:r>
            <a:r>
              <a:rPr lang="en-US" altLang="zh-CN" sz="2000" b="0" u="none" strike="noStrike" dirty="0">
                <a:effectLst/>
                <a:latin typeface="Google Sans"/>
              </a:rPr>
              <a:t>-5.5%</a:t>
            </a:r>
            <a:r>
              <a:rPr lang="zh-CN" altLang="en-US" sz="2000" b="0" u="none" strike="noStrike" dirty="0">
                <a:effectLst/>
                <a:latin typeface="Google Sans"/>
              </a:rPr>
              <a:t>） </a:t>
            </a:r>
            <a:r>
              <a:rPr lang="en-US" altLang="zh-CN" sz="2000" b="0" u="none" strike="noStrike" dirty="0">
                <a:effectLst/>
                <a:latin typeface="Google Sans"/>
              </a:rPr>
              <a:t>(</a:t>
            </a:r>
            <a:r>
              <a:rPr lang="en-US" sz="2000" b="0" u="none" strike="noStrike" dirty="0">
                <a:effectLst/>
                <a:latin typeface="Google Sans"/>
              </a:rPr>
              <a:t>p. 15)。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u="none" strike="noStrike" dirty="0">
                <a:effectLst/>
                <a:latin typeface="Google Sans"/>
              </a:rPr>
              <a:t>高斯模糊</a:t>
            </a:r>
            <a:r>
              <a:rPr lang="zh-CN" altLang="en-US" sz="2000" b="0" u="none" strike="noStrike" dirty="0">
                <a:effectLst/>
                <a:latin typeface="Google Sans"/>
              </a:rPr>
              <a:t>：性能最均衡（</a:t>
            </a:r>
            <a:r>
              <a:rPr lang="en-US" sz="2000" b="0" u="none" strike="noStrike" dirty="0">
                <a:effectLst/>
                <a:latin typeface="Google Sans"/>
              </a:rPr>
              <a:t>k=5 </a:t>
            </a:r>
            <a:r>
              <a:rPr lang="zh-CN" altLang="en-US" sz="2000" b="0" u="none" strike="noStrike" dirty="0">
                <a:effectLst/>
                <a:latin typeface="Google Sans"/>
              </a:rPr>
              <a:t>时防御率 </a:t>
            </a:r>
            <a:r>
              <a:rPr lang="en-US" altLang="zh-CN" sz="2000" b="0" u="none" strike="noStrike" dirty="0">
                <a:effectLst/>
                <a:latin typeface="Google Sans"/>
              </a:rPr>
              <a:t>34.3%</a:t>
            </a:r>
            <a:r>
              <a:rPr lang="zh-CN" altLang="en-US" sz="2000" b="0" u="none" strike="noStrike" dirty="0">
                <a:effectLst/>
                <a:latin typeface="Google Sans"/>
              </a:rPr>
              <a:t>，准确率损失仅 </a:t>
            </a:r>
            <a:r>
              <a:rPr lang="en-US" altLang="zh-CN" sz="2000" b="0" u="none" strike="noStrike" dirty="0">
                <a:effectLst/>
                <a:latin typeface="Google Sans"/>
              </a:rPr>
              <a:t>-1.7%</a:t>
            </a:r>
            <a:r>
              <a:rPr lang="zh-CN" altLang="en-US" sz="2000" b="0" u="none" strike="noStrike" dirty="0">
                <a:effectLst/>
                <a:latin typeface="Google Sans"/>
              </a:rPr>
              <a:t>） </a:t>
            </a:r>
            <a:r>
              <a:rPr lang="en-US" altLang="zh-CN" sz="2000" b="0" u="none" strike="noStrike" dirty="0">
                <a:effectLst/>
                <a:latin typeface="Google Sans"/>
              </a:rPr>
              <a:t>(</a:t>
            </a:r>
            <a:r>
              <a:rPr lang="en-US" sz="2000" b="0" u="none" strike="noStrike" dirty="0">
                <a:effectLst/>
                <a:latin typeface="Google Sans"/>
              </a:rPr>
              <a:t>p. 15)。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u="none" strike="noStrike" dirty="0">
                <a:effectLst/>
                <a:latin typeface="Google Sans"/>
              </a:rPr>
              <a:t>JPEG </a:t>
            </a:r>
            <a:r>
              <a:rPr lang="zh-CN" altLang="en-US" sz="2000" b="1" u="none" strike="noStrike" dirty="0">
                <a:effectLst/>
                <a:latin typeface="Google Sans"/>
              </a:rPr>
              <a:t>压缩</a:t>
            </a:r>
            <a:r>
              <a:rPr lang="zh-CN" altLang="en-US" sz="2000" b="0" u="none" strike="noStrike" dirty="0">
                <a:effectLst/>
                <a:latin typeface="Google Sans"/>
              </a:rPr>
              <a:t>：对小尺寸图像高频扰动去除能力有限，防御表现相对最弱 </a:t>
            </a:r>
            <a:r>
              <a:rPr lang="en-US" altLang="zh-CN" sz="2000" b="0" u="none" strike="noStrike" dirty="0">
                <a:effectLst/>
                <a:latin typeface="Google Sans"/>
              </a:rPr>
              <a:t>(</a:t>
            </a:r>
            <a:r>
              <a:rPr lang="en-US" sz="2000" b="0" u="none" strike="noStrike" dirty="0">
                <a:effectLst/>
                <a:latin typeface="Google Sans"/>
              </a:rPr>
              <a:t>p. 15)。</a:t>
            </a:r>
          </a:p>
          <a:p>
            <a:endParaRPr lang="en-CN" altLang="en-CN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09F47A-0C19-2728-B116-E53485CFA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4181"/>
            <a:ext cx="45720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810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>
            <a:extLst>
              <a:ext uri="{FF2B5EF4-FFF2-40B4-BE49-F238E27FC236}">
                <a16:creationId xmlns:a16="http://schemas.microsoft.com/office/drawing/2014/main" id="{0BF6D97C-195E-8B88-6DAA-D8AF6DB82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4" name="Rectangle 2">
            <a:extLst>
              <a:ext uri="{FF2B5EF4-FFF2-40B4-BE49-F238E27FC236}">
                <a16:creationId xmlns:a16="http://schemas.microsoft.com/office/drawing/2014/main" id="{A13E5420-6807-CAB9-FF60-7FDD8CAAF9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31840" y="1"/>
            <a:ext cx="5554960" cy="731836"/>
          </a:xfrm>
        </p:spPr>
        <p:txBody>
          <a:bodyPr/>
          <a:lstStyle/>
          <a:p>
            <a:r>
              <a:rPr lang="zh-CN" altLang="en-US" sz="2400" dirty="0"/>
              <a:t>工程价值与安全讨论（</a:t>
            </a:r>
            <a:r>
              <a:rPr lang="en-US" sz="2400" dirty="0"/>
              <a:t>Discussion）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4919494-0B36-D586-D9B1-31F42FB419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u="none" strike="noStrike" dirty="0">
                <a:effectLst/>
                <a:latin typeface="Google Sans"/>
              </a:rPr>
              <a:t>框架的工程价值</a:t>
            </a:r>
            <a:r>
              <a:rPr lang="zh-CN" altLang="en-US" sz="2000" b="0" u="none" strike="noStrike" dirty="0">
                <a:effectLst/>
                <a:latin typeface="Google Sans"/>
              </a:rPr>
              <a:t>：</a:t>
            </a:r>
            <a:r>
              <a:rPr lang="zh-CN" altLang="en-US" sz="2000" b="1" u="none" strike="noStrike" dirty="0">
                <a:effectLst/>
                <a:latin typeface="Google Sans"/>
              </a:rPr>
              <a:t>标准化与可复现</a:t>
            </a:r>
            <a:r>
              <a:rPr lang="zh-CN" altLang="en-US" sz="2000" b="0" u="none" strike="noStrike" dirty="0">
                <a:effectLst/>
                <a:latin typeface="Google Sans"/>
              </a:rPr>
              <a:t>：通过统一配置与随机种子固定，确保评估环境完全一致 </a:t>
            </a:r>
            <a:r>
              <a:rPr lang="en-US" altLang="zh-CN" sz="2000" b="0" u="none" strike="noStrike" dirty="0">
                <a:effectLst/>
                <a:latin typeface="Google Sans"/>
              </a:rPr>
              <a:t>(</a:t>
            </a:r>
            <a:r>
              <a:rPr lang="en-US" sz="2000" b="0" u="none" strike="noStrike" dirty="0">
                <a:effectLst/>
                <a:latin typeface="Google Sans"/>
              </a:rPr>
              <a:t>p. 17)。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u="none" strike="noStrike" dirty="0">
                <a:effectLst/>
                <a:latin typeface="Google Sans"/>
              </a:rPr>
              <a:t>高效性</a:t>
            </a:r>
            <a:r>
              <a:rPr lang="zh-CN" altLang="en-US" sz="2000" b="0" u="none" strike="noStrike" dirty="0">
                <a:effectLst/>
                <a:latin typeface="Google Sans"/>
              </a:rPr>
              <a:t>：一键式批量测试，将数小时的手动流水线缩短至数分钟 </a:t>
            </a:r>
            <a:r>
              <a:rPr lang="en-US" altLang="zh-CN" sz="2000" b="0" u="none" strike="noStrike" dirty="0">
                <a:effectLst/>
                <a:latin typeface="Google Sans"/>
              </a:rPr>
              <a:t>(</a:t>
            </a:r>
            <a:r>
              <a:rPr lang="en-US" sz="2000" b="0" u="none" strike="noStrike" dirty="0">
                <a:effectLst/>
                <a:latin typeface="Google Sans"/>
              </a:rPr>
              <a:t>p. 17)。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u="none" strike="noStrike" dirty="0">
                <a:effectLst/>
                <a:latin typeface="Google Sans"/>
              </a:rPr>
              <a:t>“</a:t>
            </a:r>
            <a:r>
              <a:rPr lang="zh-CN" altLang="en-US" sz="2000" b="1" u="none" strike="noStrike" dirty="0">
                <a:effectLst/>
                <a:latin typeface="Google Sans"/>
              </a:rPr>
              <a:t>虚假安全感”警示</a:t>
            </a:r>
            <a:r>
              <a:rPr lang="zh-CN" altLang="en-US" sz="2000" b="0" u="none" strike="noStrike" dirty="0">
                <a:effectLst/>
                <a:latin typeface="Google Sans"/>
              </a:rPr>
              <a:t>：预处理防御多依赖“梯度掩蔽”效应，而非增强固有鲁棒性 </a:t>
            </a:r>
            <a:r>
              <a:rPr lang="en-US" altLang="zh-CN" sz="2000" b="0" u="none" strike="noStrike" dirty="0">
                <a:effectLst/>
                <a:latin typeface="Google Sans"/>
              </a:rPr>
              <a:t>(</a:t>
            </a:r>
            <a:r>
              <a:rPr lang="en-US" sz="2000" b="0" u="none" strike="noStrike" dirty="0">
                <a:effectLst/>
                <a:latin typeface="Google Sans"/>
              </a:rPr>
              <a:t>p. 6)。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0" u="none" strike="noStrike" dirty="0">
                <a:effectLst/>
                <a:latin typeface="Google Sans"/>
              </a:rPr>
              <a:t>面对知晓防御机制的“适应性攻击”（如 </a:t>
            </a:r>
            <a:r>
              <a:rPr lang="en-US" sz="2000" b="0" u="none" strike="noStrike" dirty="0">
                <a:effectLst/>
                <a:latin typeface="Google Sans"/>
              </a:rPr>
              <a:t>BPDA </a:t>
            </a:r>
            <a:r>
              <a:rPr lang="zh-CN" altLang="en-US" sz="2000" b="0" u="none" strike="noStrike" dirty="0">
                <a:effectLst/>
                <a:latin typeface="Google Sans"/>
              </a:rPr>
              <a:t>技术模拟预处理），此类防御极易失效，其实际防御有效率应被视为非适应性下的上界 </a:t>
            </a:r>
            <a:r>
              <a:rPr lang="en-US" altLang="zh-CN" sz="2000" b="0" u="none" strike="noStrike" dirty="0">
                <a:effectLst/>
                <a:latin typeface="Google Sans"/>
              </a:rPr>
              <a:t>(</a:t>
            </a:r>
            <a:r>
              <a:rPr lang="en-US" sz="2000" b="0" u="none" strike="noStrike" dirty="0">
                <a:effectLst/>
                <a:latin typeface="Google Sans"/>
              </a:rPr>
              <a:t>p. 17)。</a:t>
            </a:r>
          </a:p>
          <a:p>
            <a:endParaRPr lang="en-CN" altLang="en-CN" sz="1800" dirty="0"/>
          </a:p>
        </p:txBody>
      </p:sp>
    </p:spTree>
    <p:extLst>
      <p:ext uri="{BB962C8B-B14F-4D97-AF65-F5344CB8AC3E}">
        <p14:creationId xmlns:p14="http://schemas.microsoft.com/office/powerpoint/2010/main" val="4060737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>
            <a:extLst>
              <a:ext uri="{FF2B5EF4-FFF2-40B4-BE49-F238E27FC236}">
                <a16:creationId xmlns:a16="http://schemas.microsoft.com/office/drawing/2014/main" id="{0BF6D97C-195E-8B88-6DAA-D8AF6DB82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4" name="Rectangle 2">
            <a:extLst>
              <a:ext uri="{FF2B5EF4-FFF2-40B4-BE49-F238E27FC236}">
                <a16:creationId xmlns:a16="http://schemas.microsoft.com/office/drawing/2014/main" id="{A13E5420-6807-CAB9-FF60-7FDD8CAAF9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31840" y="1"/>
            <a:ext cx="5554960" cy="731836"/>
          </a:xfrm>
        </p:spPr>
        <p:txBody>
          <a:bodyPr/>
          <a:lstStyle/>
          <a:p>
            <a:r>
              <a:rPr lang="zh-CN" altLang="en-US" sz="2400" b="1" u="none" strike="noStrike" dirty="0">
                <a:effectLst/>
                <a:latin typeface="Google Sans"/>
              </a:rPr>
              <a:t>结论与未来工作（</a:t>
            </a:r>
            <a:r>
              <a:rPr lang="en-US" sz="2400" b="1" u="none" strike="noStrike" dirty="0">
                <a:effectLst/>
                <a:latin typeface="Google Sans"/>
              </a:rPr>
              <a:t>Conclusion &amp; Future Work）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4919494-0B36-D586-D9B1-31F42FB419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u="none" strike="noStrike" dirty="0">
                <a:effectLst/>
                <a:latin typeface="Google Sans"/>
              </a:rPr>
              <a:t>主要工作成果</a:t>
            </a:r>
            <a:r>
              <a:rPr lang="zh-CN" altLang="en-US" sz="2000" b="0" u="none" strike="noStrike" dirty="0">
                <a:effectLst/>
                <a:latin typeface="Google Sans"/>
              </a:rPr>
              <a:t>：成功构建了一键式视觉模型鲁棒性测试平台，提出了更具攻击性的自适应步长 </a:t>
            </a:r>
            <a:r>
              <a:rPr lang="en-US" sz="2000" b="0" u="none" strike="noStrike" dirty="0">
                <a:effectLst/>
                <a:latin typeface="Google Sans"/>
              </a:rPr>
              <a:t>PGD-AS </a:t>
            </a:r>
            <a:r>
              <a:rPr lang="zh-CN" altLang="en-US" sz="2000" b="0" u="none" strike="noStrike" dirty="0">
                <a:effectLst/>
                <a:latin typeface="Google Sans"/>
              </a:rPr>
              <a:t>算法，定量揭示了防御与性能的权衡边界 </a:t>
            </a:r>
            <a:r>
              <a:rPr lang="en-US" altLang="zh-CN" sz="2000" b="0" u="none" strike="noStrike" dirty="0">
                <a:effectLst/>
                <a:latin typeface="Google Sans"/>
              </a:rPr>
              <a:t>(</a:t>
            </a:r>
            <a:r>
              <a:rPr lang="en-US" sz="2000" b="0" u="none" strike="noStrike" dirty="0">
                <a:effectLst/>
                <a:latin typeface="Google Sans"/>
              </a:rPr>
              <a:t>pp. 18-19)。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1" u="none" strike="noStrike" dirty="0">
                <a:effectLst/>
                <a:latin typeface="Google Sans"/>
              </a:rPr>
              <a:t>下一步演进方向</a:t>
            </a:r>
            <a:r>
              <a:rPr lang="zh-CN" altLang="en-US" sz="2000" b="0" u="none" strike="noStrike" dirty="0">
                <a:effectLst/>
                <a:latin typeface="Google Sans"/>
              </a:rPr>
              <a:t>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b="1" u="none" strike="noStrike" dirty="0">
                <a:effectLst/>
                <a:latin typeface="Google Sans"/>
              </a:rPr>
              <a:t>防守升级</a:t>
            </a:r>
            <a:r>
              <a:rPr lang="zh-CN" altLang="en-US" sz="2000" b="0" u="none" strike="noStrike" dirty="0">
                <a:effectLst/>
                <a:latin typeface="Google Sans"/>
              </a:rPr>
              <a:t>：利用 </a:t>
            </a:r>
            <a:r>
              <a:rPr lang="en-US" sz="2000" b="0" u="none" strike="noStrike" dirty="0">
                <a:effectLst/>
                <a:latin typeface="Google Sans"/>
              </a:rPr>
              <a:t>PGD-AS </a:t>
            </a:r>
            <a:r>
              <a:rPr lang="zh-CN" altLang="en-US" sz="2000" b="0" u="none" strike="noStrike" dirty="0">
                <a:effectLst/>
                <a:latin typeface="Google Sans"/>
              </a:rPr>
              <a:t>实施对抗训练，探索注意力机制等鲁棒架构设计 </a:t>
            </a:r>
            <a:r>
              <a:rPr lang="en-US" altLang="zh-CN" sz="2000" b="0" u="none" strike="noStrike" dirty="0">
                <a:effectLst/>
                <a:latin typeface="Google Sans"/>
              </a:rPr>
              <a:t>(</a:t>
            </a:r>
            <a:r>
              <a:rPr lang="en-US" sz="2000" b="0" u="none" strike="noStrike" dirty="0">
                <a:effectLst/>
                <a:latin typeface="Google Sans"/>
              </a:rPr>
              <a:t>p. 18)。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b="1" u="none" strike="noStrike" dirty="0">
                <a:effectLst/>
                <a:latin typeface="Google Sans"/>
              </a:rPr>
              <a:t>任务拓展</a:t>
            </a:r>
            <a:r>
              <a:rPr lang="zh-CN" altLang="en-US" sz="2000" b="0" u="none" strike="noStrike" dirty="0">
                <a:effectLst/>
                <a:latin typeface="Google Sans"/>
              </a:rPr>
              <a:t>：设计专门针对目标检测（定位回归、置信度）的深度对抗度量 </a:t>
            </a:r>
            <a:r>
              <a:rPr lang="en-US" altLang="zh-CN" sz="2000" b="0" u="none" strike="noStrike" dirty="0">
                <a:effectLst/>
                <a:latin typeface="Google Sans"/>
              </a:rPr>
              <a:t>(</a:t>
            </a:r>
            <a:r>
              <a:rPr lang="en-US" sz="2000" b="0" u="none" strike="noStrike" dirty="0">
                <a:effectLst/>
                <a:latin typeface="Google Sans"/>
              </a:rPr>
              <a:t>p. 18)。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b="1" u="none" strike="noStrike" dirty="0">
                <a:effectLst/>
                <a:latin typeface="Google Sans"/>
              </a:rPr>
              <a:t>前沿探索</a:t>
            </a:r>
            <a:r>
              <a:rPr lang="zh-CN" altLang="en-US" sz="2000" b="0" u="none" strike="noStrike" dirty="0">
                <a:effectLst/>
                <a:latin typeface="Google Sans"/>
              </a:rPr>
              <a:t>：研究多模态大模型（</a:t>
            </a:r>
            <a:r>
              <a:rPr lang="en-US" sz="2000" b="0" u="none" strike="noStrike" dirty="0">
                <a:effectLst/>
                <a:latin typeface="Google Sans"/>
              </a:rPr>
              <a:t>LVLM）</a:t>
            </a:r>
            <a:r>
              <a:rPr lang="zh-CN" altLang="en-US" sz="2000" b="0" u="none" strike="noStrike" dirty="0">
                <a:effectLst/>
                <a:latin typeface="Google Sans"/>
              </a:rPr>
              <a:t>的跨模态脆弱性与对抗攻防 </a:t>
            </a:r>
            <a:r>
              <a:rPr lang="en-US" altLang="zh-CN" sz="2000" b="0" u="none" strike="noStrike" dirty="0">
                <a:effectLst/>
                <a:latin typeface="Google Sans"/>
              </a:rPr>
              <a:t>(</a:t>
            </a:r>
            <a:r>
              <a:rPr lang="en-US" sz="2000" b="0" u="none" strike="noStrike" dirty="0">
                <a:effectLst/>
                <a:latin typeface="Google Sans"/>
              </a:rPr>
              <a:t>p. 18)。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b="1" u="none" strike="noStrike" dirty="0">
                <a:effectLst/>
                <a:latin typeface="Google Sans"/>
              </a:rPr>
              <a:t>工业落地</a:t>
            </a:r>
            <a:r>
              <a:rPr lang="zh-CN" altLang="en-US" sz="2000" b="0" u="none" strike="noStrike" dirty="0">
                <a:effectLst/>
                <a:latin typeface="Google Sans"/>
              </a:rPr>
              <a:t>：将框架 </a:t>
            </a:r>
            <a:r>
              <a:rPr lang="en-US" sz="2000" b="0" u="none" strike="noStrike" dirty="0">
                <a:effectLst/>
                <a:latin typeface="Google Sans"/>
              </a:rPr>
              <a:t>Docker </a:t>
            </a:r>
            <a:r>
              <a:rPr lang="zh-CN" altLang="en-US" sz="2000" b="0" u="none" strike="noStrike" dirty="0">
                <a:effectLst/>
                <a:latin typeface="Google Sans"/>
              </a:rPr>
              <a:t>容器化并集成至 </a:t>
            </a:r>
            <a:r>
              <a:rPr lang="en-US" sz="2000" b="0" u="none" strike="noStrike" dirty="0">
                <a:effectLst/>
                <a:latin typeface="Google Sans"/>
              </a:rPr>
              <a:t>CI/CD </a:t>
            </a:r>
            <a:r>
              <a:rPr lang="zh-CN" altLang="en-US" sz="2000" b="0" u="none" strike="noStrike" dirty="0">
                <a:effectLst/>
                <a:latin typeface="Google Sans"/>
              </a:rPr>
              <a:t>流水线，打造模型发布前的安全性自动门禁 </a:t>
            </a:r>
            <a:r>
              <a:rPr lang="en-US" altLang="zh-CN" sz="2000" b="0" u="none" strike="noStrike" dirty="0">
                <a:effectLst/>
                <a:latin typeface="Google Sans"/>
              </a:rPr>
              <a:t>(</a:t>
            </a:r>
            <a:r>
              <a:rPr lang="en-US" sz="2000" b="0" u="none" strike="noStrike" dirty="0">
                <a:effectLst/>
                <a:latin typeface="Google Sans"/>
              </a:rPr>
              <a:t>p. 18)。</a:t>
            </a:r>
          </a:p>
          <a:p>
            <a:endParaRPr lang="en-CN" altLang="en-CN" sz="1800" dirty="0"/>
          </a:p>
        </p:txBody>
      </p:sp>
    </p:spTree>
    <p:extLst>
      <p:ext uri="{BB962C8B-B14F-4D97-AF65-F5344CB8AC3E}">
        <p14:creationId xmlns:p14="http://schemas.microsoft.com/office/powerpoint/2010/main" val="3085591428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1051</Words>
  <Application>Microsoft Macintosh PowerPoint</Application>
  <PresentationFormat>On-screen Show (4:3)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宋体</vt:lpstr>
      <vt:lpstr>默认设计模板</vt:lpstr>
      <vt:lpstr>智能视觉感知软件的对抗鲁棒性测试与自动化评估</vt:lpstr>
      <vt:lpstr>研究背景与动机（Background &amp; Motivation）</vt:lpstr>
      <vt:lpstr>自动化鲁棒性评估框架架构（System Architecture）</vt:lpstr>
      <vt:lpstr>创新方法：自适应步长攻击策略（PGD-AS）</vt:lpstr>
      <vt:lpstr>攻击复现与自适应对比实验（Experimental Results）</vt:lpstr>
      <vt:lpstr>输入预处理防御机制评估（Defense Strategy）</vt:lpstr>
      <vt:lpstr>工程价值与安全讨论（Discussion）</vt:lpstr>
      <vt:lpstr>结论与未来工作（Conclusion &amp; Future Work）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昕媛 李</cp:lastModifiedBy>
  <cp:revision>5</cp:revision>
  <dcterms:created xsi:type="dcterms:W3CDTF">2014-03-21T03:02:44Z</dcterms:created>
  <dcterms:modified xsi:type="dcterms:W3CDTF">2026-06-28T10:30:59Z</dcterms:modified>
</cp:coreProperties>
</file>