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HapFlow</c:v>
                </c:pt>
                <c:pt idx="1">
                  <c:v>hf1</c:v>
                </c:pt>
                <c:pt idx="2">
                  <c:v>hf2</c:v>
                </c:pt>
                <c:pt idx="3">
                  <c:v>hf3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79.25</c:v>
                </c:pt>
                <c:pt idx="2">
                  <c:v>90.57</c:v>
                </c:pt>
                <c:pt idx="3">
                  <c:v>98.11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d4257aa-56b6-49f6-add5-fab206c1333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Shape 1"/>
          <p:cNvSpPr/>
          <p:nvPr/>
        </p:nvSpPr>
        <p:spPr>
          <a:xfrm>
            <a:off x="7315200" y="2857500"/>
            <a:ext cx="1828800" cy="2286000"/>
          </a:xfrm>
          <a:prstGeom prst="rect">
            <a:avLst/>
          </a:prstGeom>
          <a:solidFill>
            <a:srgbClr val="075985">
              <a:alpha val="7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5200" b="1" kern="0" spc="250" dirty="0">
                <a:solidFill>
                  <a:srgbClr val="F1F5F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HapFlow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0" spc="150" dirty="0">
                <a:solidFill>
                  <a:srgbClr val="38BD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面向OpenHarmony应用的污点分析框架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0" spc="100" dirty="0">
                <a:solidFill>
                  <a:srgbClr val="94A3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项目结题答辩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答辩人：</a:t>
            </a:r>
            <a:r>
              <a:rPr lang="zh-CN" altLang="en-US" sz="1400" dirty="0">
                <a:solidFill>
                  <a:srgbClr val="94A3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周启辉</a:t>
            </a:r>
            <a:r>
              <a:rPr lang="en-US" sz="1400" dirty="0">
                <a:solidFill>
                  <a:srgbClr val="94A3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  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2026年6月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目录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22860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5" name="Text 3"/>
          <p:cNvSpPr/>
          <p:nvPr/>
        </p:nvSpPr>
        <p:spPr>
          <a:xfrm>
            <a:off x="640080" y="1371600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01  研究背景与意义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73152" cy="22860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7" name="Text 5"/>
          <p:cNvSpPr/>
          <p:nvPr/>
        </p:nvSpPr>
        <p:spPr>
          <a:xfrm>
            <a:off x="640080" y="1737360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02  HapFlow框架概述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73152" cy="22860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9" name="Text 7"/>
          <p:cNvSpPr/>
          <p:nvPr/>
        </p:nvSpPr>
        <p:spPr>
          <a:xfrm>
            <a:off x="640080" y="2103120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  框架架构与技术路线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73152" cy="22860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1" name="Text 9"/>
          <p:cNvSpPr/>
          <p:nvPr/>
        </p:nvSpPr>
        <p:spPr>
          <a:xfrm>
            <a:off x="640080" y="2468880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04  实验1：HapBench准确率实验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73152" cy="22860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3" name="Text 11"/>
          <p:cNvSpPr/>
          <p:nvPr/>
        </p:nvSpPr>
        <p:spPr>
          <a:xfrm>
            <a:off x="640080" y="2834640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05  实验2：真实项目检测实验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73152" cy="22860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5" name="Text 13"/>
          <p:cNvSpPr/>
          <p:nvPr/>
        </p:nvSpPr>
        <p:spPr>
          <a:xfrm>
            <a:off x="640080" y="3200400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06  实验3：消融实验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73152" cy="22860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7" name="Text 15"/>
          <p:cNvSpPr/>
          <p:nvPr/>
        </p:nvSpPr>
        <p:spPr>
          <a:xfrm>
            <a:off x="640080" y="3566160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07  实验4：性能实验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73152" cy="22860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9" name="Text 17"/>
          <p:cNvSpPr/>
          <p:nvPr/>
        </p:nvSpPr>
        <p:spPr>
          <a:xfrm>
            <a:off x="640080" y="3931920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08  项目操作视频演示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73152" cy="22860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21" name="Text 19"/>
          <p:cNvSpPr/>
          <p:nvPr/>
        </p:nvSpPr>
        <p:spPr>
          <a:xfrm>
            <a:off x="640080" y="4297680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09  实验结果汇总与结论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研究背景与意义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Shape 2"/>
          <p:cNvSpPr/>
          <p:nvPr/>
        </p:nvSpPr>
        <p:spPr>
          <a:xfrm>
            <a:off x="457200" y="1280160"/>
            <a:ext cx="3950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研究背景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474720" cy="23774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OpenHarmony 是华为推出的开源分布式操作系统，已成为国内物联网和智能终端领域的重要平台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随着 OpenHarmony 应用生态快速发展，应用数量激增，隐私数据泄漏风险日益突出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现有静态污点分析工具主要针对 Android/Java，缺乏对 OpenHarmony ArkTS 语言的专门支持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ArkTS 具备闭包、回调、生命周期等特殊机制，给传统污点分析带来新的挑战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36592" y="1280160"/>
            <a:ext cx="3950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463040"/>
            <a:ext cx="34747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研究意义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9472" y="1920240"/>
            <a:ext cx="3474720" cy="23774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构建首个面向 OpenHarmony 应用的静态污点分析框架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填补 OpenHarmony 应用安全检测领域的工具空白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为 OpenHarmony 应用开发者提供隐私泄漏自动检测能力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推动国产操作系统应用安全生态建设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HapFlow框架概述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HapFlow 是一款针对 OpenHarmony 应用程序的静态污点分析框架，基于 ArkAnalyzer 构建，能够自动检测应用中的隐私数据泄漏路径。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840480" cy="7315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7" name="Text 5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HarmonyMain 生命周期建模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4747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自动构建应用入口和生命周期回调的完整调用图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28800"/>
            <a:ext cx="3840480" cy="7315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1" name="Text 9"/>
          <p:cNvSpPr/>
          <p:nvPr/>
        </p:nvSpPr>
        <p:spPr>
          <a:xfrm>
            <a:off x="4754880" y="2011680"/>
            <a:ext cx="34747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Closure 污点传播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423160"/>
            <a:ext cx="34747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支持 ArkTS/TypeScript 闭包变量的跨作用域污点追踪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3840480" cy="7315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5" name="Text 13"/>
          <p:cNvSpPr/>
          <p:nvPr/>
        </p:nvSpPr>
        <p:spPr>
          <a:xfrm>
            <a:off x="640080" y="3429000"/>
            <a:ext cx="34747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Callback Source 识别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4747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识别 API(callback) 形式的特殊敏感数据源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4612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246120"/>
            <a:ext cx="3840480" cy="7315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9" name="Text 17"/>
          <p:cNvSpPr/>
          <p:nvPr/>
        </p:nvSpPr>
        <p:spPr>
          <a:xfrm>
            <a:off x="4754880" y="3429000"/>
            <a:ext cx="34747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基于 IFDS 的污点求解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3840480"/>
            <a:ext cx="34747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采用精确的过程间数据流分析算法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框架架构与技术路线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Shape 2"/>
          <p:cNvSpPr/>
          <p:nvPr/>
        </p:nvSpPr>
        <p:spPr>
          <a:xfrm>
            <a:off x="2057400" y="1280160"/>
            <a:ext cx="5029200" cy="594360"/>
          </a:xfrm>
          <a:prstGeom prst="roundRect">
            <a:avLst>
              <a:gd name="adj" fmla="val 15385"/>
            </a:avLst>
          </a:prstGeom>
          <a:solidFill>
            <a:srgbClr val="0E7490"/>
          </a:solidFill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57400" y="1280160"/>
            <a:ext cx="502920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Source/Sink 规则层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sources.json / sinks.json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783080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57400" y="1783080"/>
            <a:ext cx="5029200" cy="594360"/>
          </a:xfrm>
          <a:prstGeom prst="roundRect">
            <a:avLst>
              <a:gd name="adj" fmla="val 15385"/>
            </a:avLst>
          </a:prstGeom>
          <a:solidFill>
            <a:srgbClr val="0C4A6E"/>
          </a:solidFill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783080"/>
            <a:ext cx="502920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污点分析求解器 (IFDS)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TaintAnalysisSolver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2286000"/>
            <a:ext cx="5029200" cy="594360"/>
          </a:xfrm>
          <a:prstGeom prst="roundRect">
            <a:avLst>
              <a:gd name="adj" fmla="val 15385"/>
            </a:avLst>
          </a:prstGeom>
          <a:solidFill>
            <a:srgbClr val="075985"/>
          </a:solidFill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2286000"/>
            <a:ext cx="502920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HarmonyMain 与 DummyMain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生命周期建模 / 入口构造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788920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057400" y="2788920"/>
            <a:ext cx="502920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57400" y="2788920"/>
            <a:ext cx="502920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ArkAnalyzer Scene 层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AST / CFG / 类型推断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291840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57400" y="3291840"/>
            <a:ext cx="5029200" cy="594360"/>
          </a:xfrm>
          <a:prstGeom prst="roundRect">
            <a:avLst>
              <a:gd name="adj" fmla="val 15385"/>
            </a:avLst>
          </a:prstGeom>
          <a:solidFill>
            <a:srgbClr val="334155"/>
          </a:solidFill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57400" y="3291840"/>
            <a:ext cx="502920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OpenHarmony 项目输入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ArkTS / ETS / JSON5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闭包传播分析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2788920"/>
            <a:ext cx="228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58000" y="31089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108960"/>
            <a:ext cx="18288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Callback Source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3337560"/>
            <a:ext cx="228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实验1：HapBench准确率实验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实验目标：验证 HapFlow 在 HapBench 67个测试用例上的检测准确率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645920"/>
          <a:ext cx="6217920" cy="2194563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097280"/>
              </a:tblGrid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指标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论文结果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本次复现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差异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TP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50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53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+3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TN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12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12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0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FP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2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2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0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FN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3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0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-3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Precision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96.15%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96.36%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+0.21%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Recall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94.34%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100.00%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+5.66%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230368" y="1645920"/>
            <a:ext cx="34564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5413248" y="1783080"/>
            <a:ext cx="3108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实验结论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13248" y="2148840"/>
            <a:ext cx="3108960" cy="1737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Precision 与论文高度一致（96.36% vs 96.15%）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Recall 明显高于论文（100% vs 94.34%）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满足复现成功标准：Precision&gt;94%, Recall&gt;92%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误报主要集中在数组索引和生命周期不可达路径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实验2：真实项目检测实验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实验目标：使用 HapFlow 扫描真实 OpenHarmony 项目，统计发现的 Source -&gt; Sink 数据流数量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645920"/>
          <a:ext cx="630936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指标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论文结果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本次复现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项目数量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3490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165（官方样例）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潜在泄漏路径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73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19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误报数量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8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未人工确认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成功率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—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100%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平均分析时间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—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7.63s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18888" y="1645920"/>
            <a:ext cx="38679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01768" y="1783080"/>
            <a:ext cx="33832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实验说明</a:t>
            </a:r>
            <a:endParaRPr lang="en-US" sz="1500" dirty="0"/>
          </a:p>
        </p:txBody>
      </p:sp>
      <p:sp>
        <p:nvSpPr>
          <p:cNvPr id="5" name="Text 5"/>
          <p:cNvSpPr/>
          <p:nvPr/>
        </p:nvSpPr>
        <p:spPr>
          <a:xfrm>
            <a:off x="5001768" y="2148840"/>
            <a:ext cx="3383280" cy="1645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论文使用3490个真实开源项目，当前artifact未提供该数据集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使用官方 app_samples 进行部分复现，识别165个样例工程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数据流主要集中在 Telephony、Media、Communication 等类别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验证了 HapFlow 真实项目批量检测流程的可运行性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5230368" y="1645920"/>
          <a:ext cx="3456432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实验3：消融实验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5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实验目标：验证 HapFlow 三个关键模块对检测能力的贡献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645920"/>
          <a:ext cx="667512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版本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关闭模块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Precision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Recall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HapFlow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—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96.36%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100.00%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hf1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HarmonyMain 生命周期建模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97.67%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79.25%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hf2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Closure 污点传播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96.00%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90.57%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hf3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Callback Source 识别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96.30%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98.11%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关键发现：关闭 HarmonyMain 生命周期建模后 Recall 下降最明显（-20.75%），说明生命周期建模是 HapFlow 的核心贡献；闭包传播和 Callback Source 识别也分别带来 9.43% 和 1.89% 的召回率提升。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实验4：性能实验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实验目标：统计 HapFlow 分析 OpenHarmony 项目时的运行时间和内存使用情况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45920"/>
          <a:ext cx="630936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指标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论文结果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本次复现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项目数量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3490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165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10秒内完成比例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&gt;98%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95.15%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超过10秒项目数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40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8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超过100秒项目数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5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平均分析时间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—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8.73s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18888" y="1645920"/>
            <a:ext cx="386791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01768" y="1783080"/>
            <a:ext cx="33832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性能分析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01768" y="2148840"/>
            <a:ext cx="3383280" cy="1371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95.15% 的项目可在10秒内完成分析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最大项目（24188 LOC）耗时113.82秒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分析时间与项目规模呈正相关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内存占用与批处理进程相关，单项目内存需进一步测量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4A6E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F1F5F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项目操作视频演示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206240" y="2194560"/>
            <a:ext cx="731520" cy="731520"/>
          </a:xfrm>
          <a:prstGeom prst="ellipse">
            <a:avLst/>
          </a:prstGeom>
          <a:solidFill>
            <a:srgbClr val="38BDF8"/>
          </a:solidFill>
        </p:spPr>
      </p:sp>
      <p:sp>
        <p:nvSpPr>
          <p:cNvPr id="6" name="Text 4"/>
          <p:cNvSpPr/>
          <p:nvPr/>
        </p:nvSpPr>
        <p:spPr>
          <a:xfrm>
            <a:off x="4206240" y="2194560"/>
            <a:ext cx="7315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▶</a:t>
            </a:r>
            <a:endParaRPr lang="en-US" sz="2800" dirty="0"/>
          </a:p>
        </p:txBody>
      </p:sp>
      <p:pic>
        <p:nvPicPr>
          <p:cNvPr id="12" name="dac7df11a71702bd899ae096423f39e7_4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80415" y="640080"/>
            <a:ext cx="7583170" cy="4304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实验结果汇总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3657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实验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数据集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核心结论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复现状态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实验1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准确率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HapBench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67个用例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Precision 96.36%，Recall 100%，与论文高度一致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复现成功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实验2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真实项目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app_samples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165个项目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发现19条数据流，批量检测流程可运行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部分复现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实验3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消融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HapBench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67个用例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生命周期建模贡献最大（Recall-20.75%）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复现成功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实验4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性能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app_samples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165个项目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95.15%项目10秒内完成，平均8.73秒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部分复现</a:t>
                      </a:r>
                      <a:endParaRPr 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结论与展望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Shape 2"/>
          <p:cNvSpPr/>
          <p:nvPr/>
        </p:nvSpPr>
        <p:spPr>
          <a:xfrm>
            <a:off x="457200" y="1280160"/>
            <a:ext cx="3950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950208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6" name="Text 4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主要结论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23774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成功复现 HapFlow 核心实验，验证了框架的有效性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HapBench 上取得 96.36% Precision 和 100% Recall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消融实验证实生命周期建模是框架的核心创新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性能实验表明 HapFlow 对多数项目具有较快的分析速度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36592" y="1280160"/>
            <a:ext cx="3950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1280160"/>
            <a:ext cx="3950208" cy="7315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0" name="Text 8"/>
          <p:cNvSpPr/>
          <p:nvPr/>
        </p:nvSpPr>
        <p:spPr>
          <a:xfrm>
            <a:off x="4919472" y="1463040"/>
            <a:ext cx="34747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4A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未来工作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9472" y="1920240"/>
            <a:ext cx="3474720" cy="23774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获取论文原始3490个真实项目数据集，完成完整复现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改进数组索引敏感性和路径可达性判断，降低误报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探索指针分析（PTA）对检测精度的进一步提升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将 HapFlow 集成到 OpenHarmony 应用安全检测平台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kern="0" spc="250" dirty="0">
                <a:solidFill>
                  <a:srgbClr val="F1F5F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0" spc="200" dirty="0">
                <a:solidFill>
                  <a:srgbClr val="38BD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2485</Words>
  <Application>WPS 演示</Application>
  <PresentationFormat>On-screen Show (16:9)</PresentationFormat>
  <Paragraphs>368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宋体</vt:lpstr>
      <vt:lpstr>Arial</vt:lpstr>
      <vt:lpstr>Georgia</vt:lpstr>
      <vt:lpstr>Georgia</vt:lpstr>
      <vt:lpstr>Georgia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HapFlow项目结题答辩</dc:title>
  <dc:creator>项目团队</dc:creator>
  <dc:subject>面向OpenHarmony应用的污点分析框架</dc:subject>
  <cp:lastModifiedBy>飞飞同学</cp:lastModifiedBy>
  <cp:revision>2</cp:revision>
  <dcterms:created xsi:type="dcterms:W3CDTF">2026-06-27T04:23:00Z</dcterms:created>
  <dcterms:modified xsi:type="dcterms:W3CDTF">2026-06-27T05:02:05Z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654CBFE2CCEE4B8BBFB5E8C01C1C0B45_12</vt:lpwstr>
  </property>
</Properties>
</file>