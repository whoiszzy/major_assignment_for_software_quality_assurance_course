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60" r:id="rId2"/>
  </p:sldMasterIdLst>
  <p:sldIdLst>
    <p:sldId id="258" r:id="rId3"/>
    <p:sldId id="278" r:id="rId4"/>
    <p:sldId id="260" r:id="rId5"/>
    <p:sldId id="276" r:id="rId6"/>
    <p:sldId id="279" r:id="rId7"/>
    <p:sldId id="281" r:id="rId8"/>
    <p:sldId id="259" r:id="rId9"/>
    <p:sldId id="269" r:id="rId10"/>
    <p:sldId id="283" r:id="rId11"/>
    <p:sldId id="262" r:id="rId12"/>
    <p:sldId id="282" r:id="rId13"/>
    <p:sldId id="270" r:id="rId14"/>
    <p:sldId id="274" r:id="rId15"/>
    <p:sldId id="267" r:id="rId16"/>
  </p:sldIdLst>
  <p:sldSz cx="12192000" cy="6858000"/>
  <p:notesSz cx="6858000" cy="9144000"/>
  <p:embeddedFontLst>
    <p:embeddedFont>
      <p:font typeface="等线" panose="02010600030101010101" pitchFamily="2" charset="-122"/>
      <p:regular r:id="rId17"/>
      <p:bold r:id="rId18"/>
    </p:embeddedFont>
    <p:embeddedFont>
      <p:font typeface="等线 Light" panose="02010600030101010101" pitchFamily="2" charset="-122"/>
      <p:regular r:id="rId19"/>
    </p:embeddedFont>
    <p:embeddedFont>
      <p:font typeface="黑体" panose="02010609060101010101" pitchFamily="49" charset="-122"/>
      <p:regular r:id="rId20"/>
    </p:embeddedFont>
    <p:embeddedFont>
      <p:font typeface="微软雅黑" panose="020B0503020204020204" pitchFamily="34" charset="-122"/>
      <p:regular r:id="rId21"/>
      <p:bold r:id="rId22"/>
    </p:embeddedFont>
    <p:embeddedFont>
      <p:font typeface="Lato" panose="020F0502020204030203" pitchFamily="34" charset="0"/>
      <p:regular r:id="rId23"/>
      <p:bold r:id="rId24"/>
    </p:embeddedFont>
    <p:embeddedFont>
      <p:font typeface="Lato Bold" panose="020F0502020204030203" pitchFamily="34" charset="0"/>
      <p:bold r:id="rId2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snapToGrid="0" snapToObjects="1" showGuides="1">
      <p:cViewPr varScale="1">
        <p:scale>
          <a:sx n="104" d="100"/>
          <a:sy n="104" d="100"/>
        </p:scale>
        <p:origin x="96" y="76"/>
      </p:cViewPr>
      <p:guideLst>
        <p:guide orient="horz" pos="215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F52F851F-98DE-E84B-B6F1-112EE897FC2E}" type="slidenum">
              <a:rPr/>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2F851F-98DE-E84B-B6F1-112EE897FC2E}" type="slidenum">
              <a:rPr/>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2FF19-9D0A-674D-9D47-6BFADE4156DE}" type="datetimeFigureOut">
              <a:rPr lang="zh-CN" altLang="en-US"/>
              <a:t>2026/6/28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2F851F-98DE-E84B-B6F1-112EE897FC2E}" type="slidenum">
              <a:rPr/>
              <a:t>‹#›</a:t>
            </a:fld>
            <a:endParaRPr kumimoji="1"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791460" y="2430780"/>
            <a:ext cx="6609080" cy="768350"/>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44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LLM</a:t>
            </a:r>
            <a:r>
              <a:rPr kumimoji="0" lang="zh-CN" altLang="en-US" sz="44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辅助并发程序修复</a:t>
            </a:r>
          </a:p>
        </p:txBody>
      </p:sp>
      <p:sp>
        <p:nvSpPr>
          <p:cNvPr id="5" name="文本框 4"/>
          <p:cNvSpPr txBox="1"/>
          <p:nvPr/>
        </p:nvSpPr>
        <p:spPr>
          <a:xfrm>
            <a:off x="2653665" y="3672840"/>
            <a:ext cx="6885305" cy="368300"/>
          </a:xfrm>
          <a:prstGeom prst="rect">
            <a:avLst/>
          </a:prstGeom>
          <a:noFill/>
          <a:effectLst/>
        </p:spPr>
        <p:txBody>
          <a:bodyPr wrap="square" rtlCol="0">
            <a:spAutoFit/>
          </a:bodyPr>
          <a:lstStyle>
            <a:defPPr>
              <a:defRPr lang="zh-CN"/>
            </a:defPPr>
            <a:lvl1pPr>
              <a:defRPr sz="4800">
                <a:solidFill>
                  <a:schemeClr val="bg1"/>
                </a:solidFill>
                <a:latin typeface="思源黑体 CN Heavy" panose="020B0A00000000000000" pitchFamily="34" charset="-122"/>
                <a:ea typeface="思源黑体 CN Heavy" panose="020B0A00000000000000" pitchFamily="34" charset="-122"/>
              </a:defRPr>
            </a:lvl1pPr>
          </a:lstStyle>
          <a:p>
            <a:pPr algn="ctr"/>
            <a:r>
              <a:rPr lang="zh-CN" altLang="en-US" sz="1800" spc="600" dirty="0">
                <a:solidFill>
                  <a:schemeClr val="tx1">
                    <a:lumMod val="75000"/>
                    <a:lumOff val="25000"/>
                  </a:schemeClr>
                </a:solidFill>
                <a:latin typeface="微软雅黑" panose="020B0503020204020204" pitchFamily="34" charset="-122"/>
                <a:ea typeface="微软雅黑" panose="020B0503020204020204" pitchFamily="34" charset="-122"/>
              </a:rPr>
              <a:t>组员：廖振华、鲁浩、魏浩天、王禹涵、牛海兴</a:t>
            </a:r>
          </a:p>
        </p:txBody>
      </p:sp>
      <p:sp>
        <p:nvSpPr>
          <p:cNvPr id="8" name="矩形 7"/>
          <p:cNvSpPr/>
          <p:nvPr/>
        </p:nvSpPr>
        <p:spPr>
          <a:xfrm>
            <a:off x="11232515" y="497150"/>
            <a:ext cx="627628" cy="5850384"/>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61085-F25E-EFD0-0D93-17FB0F0EC7E8}"/>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20350FFD-9A1F-03C6-C0C3-67B5012BF1AF}"/>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2584F9C5-14B0-2829-1C23-48780971B8B2}"/>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7790B9E1-9C86-07D0-2FE2-C80E8E96AEE0}"/>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FF0000"/>
                </a:solidFill>
                <a:latin typeface="Lato" pitchFamily="34" charset="0"/>
                <a:ea typeface="Lato" pitchFamily="34" charset="-122"/>
                <a:cs typeface="Lato" pitchFamily="34" charset="-120"/>
              </a:rPr>
              <a:t>项目选题背景</a:t>
            </a:r>
            <a:r>
              <a:rPr lang="en-US" sz="1750" dirty="0">
                <a:solidFill>
                  <a:srgbClr val="FF0000"/>
                </a:solidFill>
                <a:latin typeface="Lato" pitchFamily="34" charset="0"/>
                <a:ea typeface="Lato" pitchFamily="34" charset="-122"/>
                <a:cs typeface="Lato" pitchFamily="34" charset="-120"/>
              </a:rPr>
              <a:t> </a:t>
            </a:r>
            <a:endParaRPr lang="en-US" sz="1750" dirty="0">
              <a:solidFill>
                <a:srgbClr val="FF0000"/>
              </a:solidFill>
            </a:endParaRPr>
          </a:p>
        </p:txBody>
      </p:sp>
      <p:sp>
        <p:nvSpPr>
          <p:cNvPr id="7" name="Text 2">
            <a:extLst>
              <a:ext uri="{FF2B5EF4-FFF2-40B4-BE49-F238E27FC236}">
                <a16:creationId xmlns:a16="http://schemas.microsoft.com/office/drawing/2014/main" id="{35618567-7651-55CD-FD9E-F9BBD472B6D9}"/>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4A4A45"/>
                </a:solidFill>
                <a:latin typeface="Lato" pitchFamily="34" charset="0"/>
                <a:ea typeface="Lato" pitchFamily="34" charset="-122"/>
                <a:cs typeface="Lato" pitchFamily="34" charset="-120"/>
              </a:rPr>
              <a:t>预期成果与时间安排</a:t>
            </a:r>
            <a:r>
              <a:rPr lang="en-US" sz="3600" b="1" dirty="0">
                <a:solidFill>
                  <a:srgbClr val="4A4A45"/>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3B496ECB-238E-BEB7-54B6-58C6D20CAE9C}"/>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研究目标与路线</a:t>
            </a:r>
            <a:endParaRPr lang="en-US" sz="1750" dirty="0"/>
          </a:p>
        </p:txBody>
      </p:sp>
      <p:sp>
        <p:nvSpPr>
          <p:cNvPr id="11" name="文本框 10">
            <a:extLst>
              <a:ext uri="{FF2B5EF4-FFF2-40B4-BE49-F238E27FC236}">
                <a16:creationId xmlns:a16="http://schemas.microsoft.com/office/drawing/2014/main" id="{83256D9B-5585-8A61-7376-87CD2BB234F0}"/>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FB091DC4-898C-6D43-5F60-895FDD8C18D5}"/>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C67F92DD-ED91-8510-ED73-80A810105AFE}"/>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0EE17596-1076-B557-C8D0-E69383D7B392}"/>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314A239A-1A72-0050-9A1F-1BEE14AABA8A}"/>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国内外研究现状</a:t>
            </a:r>
            <a:r>
              <a:rPr lang="en-US" sz="3600" b="1" dirty="0">
                <a:solidFill>
                  <a:srgbClr val="4A4A45"/>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CA032D7D-D2F5-0B8A-1D0C-53FA54BBA41E}"/>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1418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56250" y="497150"/>
            <a:ext cx="11079499" cy="1478299"/>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4567374" y="1005585"/>
            <a:ext cx="2972303" cy="58356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选题背景</a:t>
            </a:r>
          </a:p>
        </p:txBody>
      </p:sp>
      <p:sp>
        <p:nvSpPr>
          <p:cNvPr id="2" name="文本框 1">
            <a:extLst>
              <a:ext uri="{FF2B5EF4-FFF2-40B4-BE49-F238E27FC236}">
                <a16:creationId xmlns:a16="http://schemas.microsoft.com/office/drawing/2014/main" id="{6FB1590C-77C7-4DDA-959A-2293710CEA76}"/>
              </a:ext>
            </a:extLst>
          </p:cNvPr>
          <p:cNvSpPr txBox="1"/>
          <p:nvPr/>
        </p:nvSpPr>
        <p:spPr>
          <a:xfrm>
            <a:off x="647699" y="1975449"/>
            <a:ext cx="10667365" cy="4154984"/>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algn="l">
              <a:defRPr/>
            </a:pP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软件系统规模持续扩大，多线程与并发编程已成为现代软件提高性能的通用手段，随之而来的并发缺陷（如死锁、数据竞争等）其定位与修复成本也不断上升。传统自动程序修复方法依赖规则模板或静态分析，面对复杂并发场景时，往往受到上下文不足和补丁表达能力有限的约束。近年来，大语言模型（</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）具备强大的代码理解能力，能够基于自然语言 </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issue </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描述生成修复补丁，为 </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APR </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带来了全新的技术路径。</a:t>
            </a:r>
          </a:p>
          <a:p>
            <a:pPr lvl="0" algn="l">
              <a:defRPr/>
            </a:pP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SWE-bench </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基准将真实 </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GitHub issue </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与对应测试结合，提供了接近真实工程场景的评测环境。</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AGENTLESS</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Xia </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等，</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2024</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）是这一方向的代表性工作，它提出了一种非交互式修复流程，将复杂的 </a:t>
            </a:r>
            <a:r>
              <a:rPr lang="en-US" altLang="zh-CN"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agent </a:t>
            </a: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决策拆解为文件级定位、相关元素定位、细粒度定位和补丁生成等清晰的步骤，具有流程清晰、实验控制容易的特点，非常适合作为基础系统进行本地复现与扩展</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750"/>
                            </p:stCondLst>
                            <p:childTnLst>
                              <p:par>
                                <p:cTn id="9" presetID="1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ppt_y</p:attrName>
                                        </p:attrNameLst>
                                      </p:cBhvr>
                                      <p:tavLst>
                                        <p:tav tm="0">
                                          <p:val>
                                            <p:strVal val="#ppt_y-#ppt_h*1.125000"/>
                                          </p:val>
                                        </p:tav>
                                        <p:tav tm="100000">
                                          <p:val>
                                            <p:strVal val="#ppt_y"/>
                                          </p:val>
                                        </p:tav>
                                      </p:tavLst>
                                    </p:anim>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1644-9468-4CF2-C434-0F33627605B2}"/>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785E5C49-6C40-1362-BEE3-7B3617D4D7F5}"/>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069C0564-06A4-B3AD-6149-D8BA1A9C2985}"/>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D560AC18-404C-5FB0-92B1-C2DB94DFDD56}"/>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solidFill>
                  <a:srgbClr val="4A4A45"/>
                </a:solidFill>
                <a:latin typeface="Lato" pitchFamily="34" charset="0"/>
                <a:ea typeface="Lato" pitchFamily="34" charset="-122"/>
                <a:cs typeface="Lato" pitchFamily="34" charset="-120"/>
              </a:rPr>
              <a:t>               </a:t>
            </a:r>
            <a:r>
              <a:rPr lang="zh-CN" altLang="en-US" sz="3600" b="1" dirty="0">
                <a:latin typeface="Lato" pitchFamily="34" charset="0"/>
                <a:ea typeface="Lato" pitchFamily="34" charset="-122"/>
                <a:cs typeface="Lato" pitchFamily="34" charset="-120"/>
              </a:rPr>
              <a:t>项目选题背景</a:t>
            </a:r>
            <a:r>
              <a:rPr lang="en-US" sz="1750" dirty="0">
                <a:latin typeface="Lato" pitchFamily="34" charset="0"/>
                <a:ea typeface="Lato" pitchFamily="34" charset="-122"/>
                <a:cs typeface="Lato" pitchFamily="34" charset="-120"/>
              </a:rPr>
              <a:t> </a:t>
            </a:r>
            <a:endParaRPr lang="en-US" sz="1750" dirty="0"/>
          </a:p>
        </p:txBody>
      </p:sp>
      <p:sp>
        <p:nvSpPr>
          <p:cNvPr id="7" name="Text 2">
            <a:extLst>
              <a:ext uri="{FF2B5EF4-FFF2-40B4-BE49-F238E27FC236}">
                <a16:creationId xmlns:a16="http://schemas.microsoft.com/office/drawing/2014/main" id="{4CDB0FB8-A3FD-6D51-A60D-49D03C96BF63}"/>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4A4A45"/>
                </a:solidFill>
                <a:latin typeface="Lato" pitchFamily="34" charset="0"/>
                <a:ea typeface="Lato" pitchFamily="34" charset="-122"/>
                <a:cs typeface="Lato" pitchFamily="34" charset="-120"/>
              </a:rPr>
              <a:t>预期成果与时间安排</a:t>
            </a:r>
            <a:r>
              <a:rPr lang="en-US" sz="3600" b="1" dirty="0">
                <a:solidFill>
                  <a:srgbClr val="4A4A45"/>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2C1A8454-0608-BCDB-6E10-0A762F98BE5B}"/>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研究目标与路线</a:t>
            </a:r>
            <a:endParaRPr lang="en-US" sz="1750" dirty="0"/>
          </a:p>
        </p:txBody>
      </p:sp>
      <p:sp>
        <p:nvSpPr>
          <p:cNvPr id="11" name="文本框 10">
            <a:extLst>
              <a:ext uri="{FF2B5EF4-FFF2-40B4-BE49-F238E27FC236}">
                <a16:creationId xmlns:a16="http://schemas.microsoft.com/office/drawing/2014/main" id="{CC7ACCD7-6F2B-9B25-3AD2-310170E74FA8}"/>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ACCC97FB-4427-E0B3-7BE7-2FD92E3B9D07}"/>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D5B61DBD-36AE-522F-92DC-16F1179B4B6B}"/>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B95FC21F-65A7-44F0-3689-CA951DED5ACB}"/>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25AFBD54-54A3-6116-6AEB-8B70C1A5A3FC}"/>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FF0000"/>
                </a:solidFill>
                <a:latin typeface="Lato" pitchFamily="34" charset="0"/>
                <a:ea typeface="Lato" pitchFamily="34" charset="-122"/>
                <a:cs typeface="Lato" pitchFamily="34" charset="-120"/>
              </a:rPr>
              <a:t>国内外研究现状</a:t>
            </a:r>
            <a:r>
              <a:rPr lang="en-US" sz="3600" b="1" dirty="0">
                <a:solidFill>
                  <a:srgbClr val="FF0000"/>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BAEE6C08-73CC-853E-852C-CEB022D4EBD2}"/>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024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E2C39-AF56-1E0F-59F6-BA242F9496E9}"/>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D65E5AF6-8798-FC70-16EB-B13A6DEC9091}"/>
              </a:ext>
            </a:extLst>
          </p:cNvPr>
          <p:cNvSpPr/>
          <p:nvPr/>
        </p:nvSpPr>
        <p:spPr>
          <a:xfrm>
            <a:off x="556250" y="497150"/>
            <a:ext cx="11079499" cy="1478299"/>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a:extLst>
              <a:ext uri="{FF2B5EF4-FFF2-40B4-BE49-F238E27FC236}">
                <a16:creationId xmlns:a16="http://schemas.microsoft.com/office/drawing/2014/main" id="{F6813F77-8F1D-2A80-FF3D-265F9AD3DA28}"/>
              </a:ext>
            </a:extLst>
          </p:cNvPr>
          <p:cNvSpPr txBox="1"/>
          <p:nvPr/>
        </p:nvSpPr>
        <p:spPr>
          <a:xfrm>
            <a:off x="4567374" y="1005585"/>
            <a:ext cx="3473040" cy="584775"/>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国内外研究现状</a:t>
            </a:r>
          </a:p>
        </p:txBody>
      </p:sp>
      <p:sp>
        <p:nvSpPr>
          <p:cNvPr id="2" name="文本框 1">
            <a:extLst>
              <a:ext uri="{FF2B5EF4-FFF2-40B4-BE49-F238E27FC236}">
                <a16:creationId xmlns:a16="http://schemas.microsoft.com/office/drawing/2014/main" id="{A005DBDC-0497-4BF6-F662-66AE27612A90}"/>
              </a:ext>
            </a:extLst>
          </p:cNvPr>
          <p:cNvSpPr txBox="1"/>
          <p:nvPr/>
        </p:nvSpPr>
        <p:spPr>
          <a:xfrm>
            <a:off x="647699" y="1975449"/>
            <a:ext cx="10667365" cy="4862870"/>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algn="l">
              <a:defRPr/>
            </a:pP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自动程序修复研究始于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2009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年前后，经历了从早期依赖搜索（如遗传编程 </a:t>
            </a:r>
            <a:r>
              <a:rPr lang="en-US" altLang="zh-CN" sz="18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GenProg</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）、模板匹配（如 </a:t>
            </a:r>
            <a:r>
              <a:rPr lang="en-US" altLang="zh-CN" sz="18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TBar</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）到深度学习的演进。传统方法在面对开源项目复杂语义时泛化能力不足。近年来，随着预训练语言模型（如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CodeT5</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）及大语言模型的发展，研究者开始利用自然语言问题描述、代码上下文和测试反馈作为输入，直接生成候选补丁，</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APR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技术进入了大模型驱动时代。</a:t>
            </a:r>
            <a:endPar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a:p>
            <a:pPr lvl="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当前基于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LLM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的自动程序修复通常包含三个关键环节：一是缺陷上下文构建（即从大型代码库中选择相关文件和片段）；二是补丁生成（即由大模型生成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diff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或编辑代码）；三是补丁验证（利用测试用例判断是否正确）。</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AGENTLESS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将其拆解为清晰的非交互流程，有效降低了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agent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的交互复杂度与调用成本。</a:t>
            </a:r>
          </a:p>
          <a:p>
            <a:pPr lvl="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并发缺陷包括数据竞争、死锁、原子性违反等类型，其最大特征是触发的非确定性。现有研究指出，这类缺陷的测试通常需要通过多线程压力、重复执行或超时机制来提高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bug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暴露概率。在自动修复领域，传统的单次测试通过标准（</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Pass-or-Fail</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）面临重大挑战，对补丁进行多轮运行评估和并发安全性静态检查正逐渐成为行业共识。</a:t>
            </a:r>
          </a:p>
          <a:p>
            <a:pPr lvl="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随着基准测试从合成任务走向真实开源仓库（如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SWE-bench</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），越来越多研究开始关注补丁的正确性保持与评测可解释性。在学术界，通过强化学习或双模型筛选提升修复质量已成为热点。对于低成本复现项目而言，在标准流程基础之上通过定制化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Prompt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和轻量静态检查项（如 </a:t>
            </a:r>
            <a:r>
              <a:rPr lang="en-US" altLang="zh-CN" sz="18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patch_risk</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分析）来进行针对性改进，已被证实是一种高性价比且科学性明确的研究方向。</a:t>
            </a:r>
          </a:p>
          <a:p>
            <a:pPr lvl="0" algn="l">
              <a:defRPr/>
            </a:pPr>
            <a:endPar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84145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750"/>
                            </p:stCondLst>
                            <p:childTnLst>
                              <p:par>
                                <p:cTn id="9" presetID="12" presetClass="entr" presetSubtype="1"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ppt_y</p:attrName>
                                        </p:attrNameLst>
                                      </p:cBhvr>
                                      <p:tavLst>
                                        <p:tav tm="0">
                                          <p:val>
                                            <p:strVal val="#ppt_y-#ppt_h*1.125000"/>
                                          </p:val>
                                        </p:tav>
                                        <p:tav tm="100000">
                                          <p:val>
                                            <p:strVal val="#ppt_y"/>
                                          </p:val>
                                        </p:tav>
                                      </p:tavLst>
                                    </p:anim>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DAC9E-B63D-C5CA-7156-8E93C6FDF333}"/>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6B026B18-51DB-25AC-8A87-6A0D42F184BC}"/>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6D3314A7-8FA9-89DA-2170-AD23FC2935FD}"/>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CF90055D-FD3D-7E9C-B076-3CD37A2D8D58}"/>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latin typeface="Lato" pitchFamily="34" charset="0"/>
                <a:ea typeface="Lato" pitchFamily="34" charset="-122"/>
                <a:cs typeface="Lato" pitchFamily="34" charset="-120"/>
              </a:rPr>
              <a:t>               </a:t>
            </a:r>
            <a:r>
              <a:rPr lang="zh-CN" altLang="en-US" sz="3600" b="1" dirty="0">
                <a:latin typeface="Lato" pitchFamily="34" charset="0"/>
                <a:ea typeface="Lato" pitchFamily="34" charset="-122"/>
                <a:cs typeface="Lato" pitchFamily="34" charset="-120"/>
              </a:rPr>
              <a:t>项目选题背景</a:t>
            </a:r>
            <a:r>
              <a:rPr lang="en-US" sz="1750" dirty="0">
                <a:latin typeface="Lato" pitchFamily="34" charset="0"/>
                <a:ea typeface="Lato" pitchFamily="34" charset="-122"/>
                <a:cs typeface="Lato" pitchFamily="34" charset="-120"/>
              </a:rPr>
              <a:t> </a:t>
            </a:r>
            <a:endParaRPr lang="en-US" sz="1750" dirty="0"/>
          </a:p>
        </p:txBody>
      </p:sp>
      <p:sp>
        <p:nvSpPr>
          <p:cNvPr id="7" name="Text 2">
            <a:extLst>
              <a:ext uri="{FF2B5EF4-FFF2-40B4-BE49-F238E27FC236}">
                <a16:creationId xmlns:a16="http://schemas.microsoft.com/office/drawing/2014/main" id="{4B861488-ADC6-6F29-B1F4-AF49AEF9DE4C}"/>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4A4A45"/>
                </a:solidFill>
                <a:latin typeface="Lato" pitchFamily="34" charset="0"/>
                <a:ea typeface="Lato" pitchFamily="34" charset="-122"/>
                <a:cs typeface="Lato" pitchFamily="34" charset="-120"/>
              </a:rPr>
              <a:t>预期成果与时间安排</a:t>
            </a:r>
            <a:r>
              <a:rPr lang="en-US" sz="3600" b="1" dirty="0">
                <a:solidFill>
                  <a:srgbClr val="4A4A45"/>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96355F40-63F5-34E9-7300-81542778235F}"/>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FF0000"/>
                </a:solidFill>
                <a:latin typeface="Lato" pitchFamily="34" charset="0"/>
                <a:ea typeface="Lato" pitchFamily="34" charset="-122"/>
                <a:cs typeface="Lato" pitchFamily="34" charset="-120"/>
              </a:rPr>
              <a:t>研究目标与路线</a:t>
            </a:r>
            <a:endParaRPr lang="en-US" sz="1750" dirty="0">
              <a:solidFill>
                <a:srgbClr val="FF0000"/>
              </a:solidFill>
            </a:endParaRPr>
          </a:p>
        </p:txBody>
      </p:sp>
      <p:sp>
        <p:nvSpPr>
          <p:cNvPr id="11" name="文本框 10">
            <a:extLst>
              <a:ext uri="{FF2B5EF4-FFF2-40B4-BE49-F238E27FC236}">
                <a16:creationId xmlns:a16="http://schemas.microsoft.com/office/drawing/2014/main" id="{928A7C99-8294-6AB0-B550-3CA734E1B2DF}"/>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4E7229B3-1C97-C06D-0B17-77AD630BC4E1}"/>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917B34DA-42A0-2A95-6D04-44BB82DF98FD}"/>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079E29EB-4BBF-674A-35B0-1E0577600480}"/>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64D38427-0693-3347-F64E-252E65887369}"/>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国内外研究现状</a:t>
            </a:r>
            <a:r>
              <a:rPr lang="en-US" sz="3600" b="1" dirty="0">
                <a:solidFill>
                  <a:srgbClr val="4A4A45"/>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BA9BF488-EC9B-D189-EF74-97C405CBD5BD}"/>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334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103959" y="1005273"/>
            <a:ext cx="3270271" cy="3190104"/>
          </a:xfrm>
          <a:prstGeom prst="rect">
            <a:avLst/>
          </a:prstGeom>
          <a:noFill/>
          <a:ln w="101600">
            <a:solidFill>
              <a:srgbClr val="4963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6200000">
            <a:off x="-136497" y="2919353"/>
            <a:ext cx="4890596" cy="1062437"/>
            <a:chOff x="1694202" y="1422016"/>
            <a:chExt cx="4890596" cy="1062437"/>
          </a:xfrm>
        </p:grpSpPr>
        <p:sp>
          <p:nvSpPr>
            <p:cNvPr id="6" name="文本框 5"/>
            <p:cNvSpPr txBox="1"/>
            <p:nvPr/>
          </p:nvSpPr>
          <p:spPr>
            <a:xfrm>
              <a:off x="1694202" y="1422016"/>
              <a:ext cx="4890596" cy="646331"/>
            </a:xfrm>
            <a:prstGeom prst="rect">
              <a:avLst/>
            </a:prstGeom>
            <a:noFill/>
          </p:spPr>
          <p:txBody>
            <a:bodyPr wrap="square" rtlCol="0">
              <a:spAutoFit/>
            </a:bodyPr>
            <a:lstStyle/>
            <a:p>
              <a:r>
                <a:rPr lang="en-US" altLang="zh-CN" sz="3600" spc="-300" dirty="0">
                  <a:solidFill>
                    <a:schemeClr val="bg1"/>
                  </a:solidFill>
                  <a:latin typeface="微软雅黑" panose="020B0503020204020204" pitchFamily="34" charset="-122"/>
                  <a:ea typeface="微软雅黑" panose="020B0503020204020204" pitchFamily="34" charset="-122"/>
                </a:rPr>
                <a:t>YOUR TITLE HERE</a:t>
              </a:r>
              <a:endParaRPr lang="zh-CN" altLang="en-US" sz="3600" spc="-300" dirty="0">
                <a:solidFill>
                  <a:schemeClr val="bg1"/>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722777" y="1961233"/>
              <a:ext cx="3259005" cy="523220"/>
            </a:xfrm>
            <a:prstGeom prst="rect">
              <a:avLst/>
            </a:prstGeom>
            <a:noFill/>
          </p:spPr>
          <p:txBody>
            <a:bodyPr wrap="square" rtlCol="0">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请输入标题内容</a:t>
              </a:r>
            </a:p>
          </p:txBody>
        </p:sp>
      </p:grpSp>
      <p:grpSp>
        <p:nvGrpSpPr>
          <p:cNvPr id="9" name="组合 8"/>
          <p:cNvGrpSpPr/>
          <p:nvPr/>
        </p:nvGrpSpPr>
        <p:grpSpPr>
          <a:xfrm>
            <a:off x="8311756" y="1519547"/>
            <a:ext cx="5852952" cy="3531280"/>
            <a:chOff x="1044000" y="2268000"/>
            <a:chExt cx="6096000" cy="3680834"/>
          </a:xfrm>
          <a:effectLst/>
        </p:grpSpPr>
        <p:grpSp>
          <p:nvGrpSpPr>
            <p:cNvPr id="10" name="Group 22"/>
            <p:cNvGrpSpPr/>
            <p:nvPr/>
          </p:nvGrpSpPr>
          <p:grpSpPr>
            <a:xfrm>
              <a:off x="1044000" y="2268000"/>
              <a:ext cx="6096000" cy="3680834"/>
              <a:chOff x="2392014" y="1138727"/>
              <a:chExt cx="4388572" cy="2647847"/>
            </a:xfrm>
          </p:grpSpPr>
          <p:pic>
            <p:nvPicPr>
              <p:cNvPr id="12" name="Picture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2014" y="1138727"/>
                <a:ext cx="4388572" cy="2647847"/>
              </a:xfrm>
              <a:prstGeom prst="rect">
                <a:avLst/>
              </a:prstGeom>
            </p:spPr>
          </p:pic>
          <p:sp>
            <p:nvSpPr>
              <p:cNvPr id="13" name="Rectangle 32"/>
              <p:cNvSpPr/>
              <p:nvPr/>
            </p:nvSpPr>
            <p:spPr>
              <a:xfrm>
                <a:off x="2908092" y="1313332"/>
                <a:ext cx="3310128" cy="2049481"/>
              </a:xfrm>
              <a:prstGeom prst="rect">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solidFill>
                    <a:schemeClr val="tx1">
                      <a:lumMod val="75000"/>
                      <a:lumOff val="25000"/>
                    </a:schemeClr>
                  </a:solidFill>
                  <a:latin typeface="+mn-ea"/>
                </a:endParaRPr>
              </a:p>
            </p:txBody>
          </p:sp>
        </p:grpSp>
        <p:pic>
          <p:nvPicPr>
            <p:cNvPr id="11" name="图片占位符 2"/>
            <p:cNvPicPr>
              <a:picLocks noChangeAspect="1"/>
            </p:cNvPicPr>
            <p:nvPr/>
          </p:nvPicPr>
          <p:blipFill>
            <a:blip r:embed="rId3" cstate="print">
              <a:grayscl/>
              <a:extLst>
                <a:ext uri="{28A0092B-C50C-407E-A947-70E740481C1C}">
                  <a14:useLocalDpi xmlns:a14="http://schemas.microsoft.com/office/drawing/2010/main" val="0"/>
                </a:ext>
              </a:extLst>
            </a:blip>
            <a:stretch>
              <a:fillRect/>
            </a:stretch>
          </p:blipFill>
          <p:spPr>
            <a:xfrm>
              <a:off x="1760864" y="2410991"/>
              <a:ext cx="4683588" cy="2948764"/>
            </a:xfrm>
            <a:prstGeom prst="rect">
              <a:avLst/>
            </a:prstGeom>
            <a:blipFill>
              <a:blip r:embed="rId4" cstate="print">
                <a:grayscl/>
                <a:extLst>
                  <a:ext uri="{28A0092B-C50C-407E-A947-70E740481C1C}">
                    <a14:useLocalDpi xmlns:a14="http://schemas.microsoft.com/office/drawing/2010/main" val="0"/>
                  </a:ext>
                </a:extLst>
              </a:blip>
              <a:stretch>
                <a:fillRect/>
              </a:stretch>
            </a:blipFill>
          </p:spPr>
        </p:pic>
      </p:grpSp>
      <p:sp>
        <p:nvSpPr>
          <p:cNvPr id="15" name="文本框 14"/>
          <p:cNvSpPr txBox="1"/>
          <p:nvPr/>
        </p:nvSpPr>
        <p:spPr>
          <a:xfrm>
            <a:off x="2743832" y="1196037"/>
            <a:ext cx="5349240" cy="460375"/>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研究目标</a:t>
            </a:r>
            <a:endParaRPr kumimoji="0" lang="zh-CN" altLang="en-US" sz="24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矩形 1"/>
          <p:cNvSpPr/>
          <p:nvPr/>
        </p:nvSpPr>
        <p:spPr>
          <a:xfrm>
            <a:off x="1457664" y="1875905"/>
            <a:ext cx="5626100" cy="2818564"/>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6"/>
          <p:cNvSpPr txBox="1"/>
          <p:nvPr/>
        </p:nvSpPr>
        <p:spPr>
          <a:xfrm>
            <a:off x="1730079" y="2456512"/>
            <a:ext cx="4992370" cy="1938992"/>
          </a:xfrm>
          <a:prstGeom prst="rect">
            <a:avLst/>
          </a:prstGeom>
          <a:noFill/>
        </p:spPr>
        <p:txBody>
          <a:bodyPr wrap="square" rtlCol="0">
            <a:spAutoFit/>
          </a:bodyPr>
          <a:lstStyle/>
          <a:p>
            <a:r>
              <a:rPr lang="en-US" altLang="zh-CN"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。在该论文基础上进行架构复现</a:t>
            </a:r>
          </a:p>
          <a:p>
            <a:endParaRPr lang="zh-CN" altLang="en-US"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。在该论文基础上增加并发检测模块、稳定性评测模块、提示词优化，进一步怎加架构在处理并发程序代码的鲁棒性</a:t>
            </a:r>
          </a:p>
          <a:p>
            <a:endParaRPr lang="en-US" sz="20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par>
                                <p:cTn id="20" presetID="22" presetClass="entr" presetSubtype="4"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5" grpId="0"/>
      <p:bldP spid="15" grpId="1"/>
      <p:bldP spid="2" grpId="0" animBg="1"/>
      <p:bldP spid="2" grpId="1" animBg="1"/>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335915" y="447040"/>
            <a:ext cx="4152900" cy="596900"/>
          </a:xfrm>
          <a:prstGeom prst="rect">
            <a:avLst/>
          </a:prstGeom>
          <a:noFill/>
        </p:spPr>
        <p:txBody>
          <a:bodyPr wrap="square" rtlCol="0">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路线</a:t>
            </a:r>
            <a:endParaRPr 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224790" y="1522730"/>
            <a:ext cx="9154795" cy="1015663"/>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indent="457200" algn="l">
              <a:defRPr/>
            </a:pP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待分析案例</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[AGENTLESS] →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可疑文件定位</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相关元素定位</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细粒度定位</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生成修复补丁</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zh-CN" altLang="en-US" sz="2000" b="1" dirty="0">
                <a:solidFill>
                  <a:srgbClr val="FF0000"/>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（拟优化并发语义提示）</a:t>
            </a:r>
            <a:r>
              <a:rPr lang="en-US" altLang="zh-CN" sz="2000" b="1" dirty="0">
                <a:solidFill>
                  <a:srgbClr val="FF0000"/>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验证修复补丁</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zh-CN" altLang="en-US" sz="2000" b="1" dirty="0">
                <a:solidFill>
                  <a:srgbClr val="FF0000"/>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（拟增加多轮验证、轻量静态检查）</a:t>
            </a:r>
            <a:endParaRPr kumimoji="0" lang="zh-CN" altLang="en-US" sz="2000" b="1" u="none" strike="noStrike" kern="1200" cap="none" spc="0" normalizeH="0" baseline="0" noProof="0" dirty="0">
              <a:ln>
                <a:noFill/>
              </a:ln>
              <a:solidFill>
                <a:srgbClr val="FF0000"/>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文本框 10"/>
          <p:cNvSpPr txBox="1"/>
          <p:nvPr/>
        </p:nvSpPr>
        <p:spPr>
          <a:xfrm>
            <a:off x="224790" y="3016250"/>
            <a:ext cx="4620895" cy="2058670"/>
          </a:xfrm>
          <a:prstGeom prst="rect">
            <a:avLst/>
          </a:prstGeom>
          <a:noFill/>
        </p:spPr>
        <p:txBody>
          <a:bodyPr wrap="square" rtlCol="0">
            <a:noAutofit/>
            <a:scene3d>
              <a:camera prst="orthographicFront"/>
              <a:lightRig rig="threePt" dir="t">
                <a:rot lat="0" lon="0" rev="0"/>
              </a:lightRig>
            </a:scene3d>
            <a:sp3d contourW="12700"/>
          </a:bodyPr>
          <a:lstStyle>
            <a:defPPr>
              <a:defRPr lang="zh-CN"/>
            </a:defPPr>
            <a:lvl1pPr algn="dist">
              <a:defRPr sz="9600"/>
            </a:lvl1pPr>
          </a:lstStyle>
          <a:p>
            <a:pPr lvl="0" indent="45720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1</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）针对案例，采用测试集</a:t>
            </a:r>
            <a:r>
              <a:rPr lang="zh-CN" altLang="zh-CN" sz="2000" dirty="0"/>
              <a:t>SWE-bench Lite </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，力求实现与论文相持的自动程序修复复现</a:t>
            </a:r>
          </a:p>
          <a:p>
            <a:pPr lvl="0" indent="45720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）针对补丁验证不确定性，采用多次执行方式</a:t>
            </a:r>
          </a:p>
          <a:p>
            <a:pPr lvl="0" indent="457200" algn="l">
              <a:defRPr/>
            </a:pP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r>
              <a:rPr lang="en-US" altLang="zh-CN"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3</a:t>
            </a:r>
            <a:r>
              <a:rPr lang="zh-CN" altLang="en-US" sz="20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）针对并发缺陷分析，优化提示词，以及增加静态检查模块，提升修复稳定性</a:t>
            </a:r>
          </a:p>
          <a:p>
            <a:pPr marL="0" marR="0" lvl="0" indent="457200" algn="l" defTabSz="914400" rtl="0" eaLnBrk="1" fontAlgn="auto" latinLnBrk="0" hangingPunct="1">
              <a:lnSpc>
                <a:spcPct val="100000"/>
              </a:lnSpc>
              <a:spcBef>
                <a:spcPts val="0"/>
              </a:spcBef>
              <a:spcAft>
                <a:spcPts val="0"/>
              </a:spcAft>
              <a:buClrTx/>
              <a:buSzTx/>
              <a:buFontTx/>
              <a:buNone/>
              <a:defRPr/>
            </a:pPr>
            <a:endParaRPr kumimoji="0" lang="zh-CN" altLang="en-US" sz="20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pic>
        <p:nvPicPr>
          <p:cNvPr id="4" name="图片 3">
            <a:extLst>
              <a:ext uri="{FF2B5EF4-FFF2-40B4-BE49-F238E27FC236}">
                <a16:creationId xmlns:a16="http://schemas.microsoft.com/office/drawing/2014/main" id="{171077FD-A096-AD80-3D95-5CBCAF009C8E}"/>
              </a:ext>
            </a:extLst>
          </p:cNvPr>
          <p:cNvPicPr>
            <a:picLocks noChangeAspect="1"/>
          </p:cNvPicPr>
          <p:nvPr/>
        </p:nvPicPr>
        <p:blipFill>
          <a:blip r:embed="rId2"/>
          <a:stretch>
            <a:fillRect/>
          </a:stretch>
        </p:blipFill>
        <p:spPr>
          <a:xfrm>
            <a:off x="4997668" y="2544381"/>
            <a:ext cx="7081344" cy="41660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p:tgtEl>
                                          <p:spTgt spid="15"/>
                                        </p:tgtEl>
                                        <p:attrNameLst>
                                          <p:attrName>ppt_y</p:attrName>
                                        </p:attrNameLst>
                                      </p:cBhvr>
                                      <p:tavLst>
                                        <p:tav tm="0">
                                          <p:val>
                                            <p:strVal val="#ppt_y-#ppt_h*1.125000"/>
                                          </p:val>
                                        </p:tav>
                                        <p:tav tm="100000">
                                          <p:val>
                                            <p:strVal val="#ppt_y"/>
                                          </p:val>
                                        </p:tav>
                                      </p:tavLst>
                                    </p:anim>
                                    <p:animEffect transition="in" filter="wipe(down)">
                                      <p:cBhvr>
                                        <p:cTn id="12" dur="500"/>
                                        <p:tgtEl>
                                          <p:spTgt spid="15"/>
                                        </p:tgtEl>
                                      </p:cBhvr>
                                    </p:animEffect>
                                  </p:childTnLst>
                                </p:cTn>
                              </p:par>
                            </p:childTnLst>
                          </p:cTn>
                        </p:par>
                        <p:par>
                          <p:cTn id="13" fill="hold">
                            <p:stCondLst>
                              <p:cond delay="1500"/>
                            </p:stCondLst>
                            <p:childTnLst>
                              <p:par>
                                <p:cTn id="14" presetID="12" presetClass="entr" presetSubtype="1"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ppt_y</p:attrName>
                                        </p:attrNameLst>
                                      </p:cBhvr>
                                      <p:tavLst>
                                        <p:tav tm="0">
                                          <p:val>
                                            <p:strVal val="#ppt_y-#ppt_h*1.125000"/>
                                          </p:val>
                                        </p:tav>
                                        <p:tav tm="100000">
                                          <p:val>
                                            <p:strVal val="#ppt_y"/>
                                          </p:val>
                                        </p:tav>
                                      </p:tavLst>
                                    </p:anim>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2F434-8BB5-C555-5BFA-5478F78773B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649E2AC-15E7-0968-965E-A1096664024C}"/>
              </a:ext>
            </a:extLst>
          </p:cNvPr>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a:extLst>
              <a:ext uri="{FF2B5EF4-FFF2-40B4-BE49-F238E27FC236}">
                <a16:creationId xmlns:a16="http://schemas.microsoft.com/office/drawing/2014/main" id="{CB359CC7-7303-6C84-46DD-AA5AACA88D53}"/>
              </a:ext>
            </a:extLst>
          </p:cNvPr>
          <p:cNvSpPr txBox="1"/>
          <p:nvPr/>
        </p:nvSpPr>
        <p:spPr>
          <a:xfrm>
            <a:off x="-563971" y="447040"/>
            <a:ext cx="4152900" cy="596900"/>
          </a:xfrm>
          <a:prstGeom prst="rect">
            <a:avLst/>
          </a:prstGeom>
          <a:noFill/>
        </p:spPr>
        <p:txBody>
          <a:bodyPr wrap="square" rtlCol="0">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目前成果</a:t>
            </a:r>
            <a:endParaRPr 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a:extLst>
              <a:ext uri="{FF2B5EF4-FFF2-40B4-BE49-F238E27FC236}">
                <a16:creationId xmlns:a16="http://schemas.microsoft.com/office/drawing/2014/main" id="{AE210405-7907-6C89-36CF-52F463A293E9}"/>
              </a:ext>
            </a:extLst>
          </p:cNvPr>
          <p:cNvSpPr txBox="1"/>
          <p:nvPr/>
        </p:nvSpPr>
        <p:spPr>
          <a:xfrm>
            <a:off x="224790" y="1522730"/>
            <a:ext cx="11480981" cy="400110"/>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indent="457200" algn="l">
              <a:defRPr/>
            </a:pPr>
            <a:r>
              <a:rPr kumimoji="0" lang="zh-CN" altLang="en-US" sz="2000" b="1" u="none" strike="noStrike" kern="1200" cap="none" spc="0" normalizeH="0" baseline="0" noProof="0" dirty="0">
                <a:ln>
                  <a:noFill/>
                </a:ln>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项目完成基本环境搭建，并基于</a:t>
            </a:r>
            <a:r>
              <a:rPr kumimoji="0" lang="en-US" altLang="zh-CN" sz="2000" b="1" u="none" strike="noStrike" kern="1200" cap="none" spc="0" normalizeH="0" baseline="0" noProof="0" dirty="0">
                <a:ln>
                  <a:noFill/>
                </a:ln>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AGENTLESS</a:t>
            </a:r>
            <a:r>
              <a:rPr kumimoji="0" lang="zh-CN" altLang="en-US" sz="2000" b="1" u="none" strike="noStrike" kern="1200" cap="none" spc="0" normalizeH="0" baseline="0" noProof="0" dirty="0">
                <a:ln>
                  <a:noFill/>
                </a:ln>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与</a:t>
            </a:r>
            <a:r>
              <a:rPr kumimoji="0" lang="en-US" altLang="zh-CN" sz="2000" b="1" u="none" strike="noStrike" kern="1200" cap="none" spc="0" normalizeH="0" baseline="0" noProof="0" dirty="0">
                <a:ln>
                  <a:noFill/>
                </a:ln>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SWE-bench Lite</a:t>
            </a:r>
            <a:r>
              <a:rPr kumimoji="0" lang="zh-CN" altLang="en-US" sz="2000" b="1" u="none" strike="noStrike" kern="1200" cap="none" spc="0" normalizeH="0" baseline="0" noProof="0" dirty="0">
                <a:ln>
                  <a:noFill/>
                </a:ln>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rPr>
              <a:t>实现了五个基础案例复现</a:t>
            </a:r>
          </a:p>
        </p:txBody>
      </p:sp>
      <p:pic>
        <p:nvPicPr>
          <p:cNvPr id="5" name="图片 4">
            <a:extLst>
              <a:ext uri="{FF2B5EF4-FFF2-40B4-BE49-F238E27FC236}">
                <a16:creationId xmlns:a16="http://schemas.microsoft.com/office/drawing/2014/main" id="{C2B26A1F-34B4-4F8F-3E92-9CD003139A77}"/>
              </a:ext>
            </a:extLst>
          </p:cNvPr>
          <p:cNvPicPr>
            <a:picLocks noChangeAspect="1"/>
          </p:cNvPicPr>
          <p:nvPr/>
        </p:nvPicPr>
        <p:blipFill>
          <a:blip r:embed="rId2"/>
          <a:stretch>
            <a:fillRect/>
          </a:stretch>
        </p:blipFill>
        <p:spPr>
          <a:xfrm>
            <a:off x="790856" y="2273710"/>
            <a:ext cx="9862630" cy="1657435"/>
          </a:xfrm>
          <a:prstGeom prst="rect">
            <a:avLst/>
          </a:prstGeom>
        </p:spPr>
      </p:pic>
      <p:sp>
        <p:nvSpPr>
          <p:cNvPr id="6" name="文本框 5">
            <a:extLst>
              <a:ext uri="{FF2B5EF4-FFF2-40B4-BE49-F238E27FC236}">
                <a16:creationId xmlns:a16="http://schemas.microsoft.com/office/drawing/2014/main" id="{E057119F-505D-0ED2-8D1A-D06AED3CCF10}"/>
              </a:ext>
            </a:extLst>
          </p:cNvPr>
          <p:cNvSpPr txBox="1"/>
          <p:nvPr/>
        </p:nvSpPr>
        <p:spPr>
          <a:xfrm>
            <a:off x="613137" y="4426857"/>
            <a:ext cx="10704286" cy="1631216"/>
          </a:xfrm>
          <a:prstGeom prst="rect">
            <a:avLst/>
          </a:prstGeom>
          <a:noFill/>
        </p:spPr>
        <p:txBody>
          <a:bodyPr wrap="square" rtlCol="0">
            <a:spAutoFit/>
          </a:bodyPr>
          <a:lstStyle/>
          <a:p>
            <a:r>
              <a:rPr lang="zh-CN" altLang="en-US" sz="2000" b="1"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	基础环境与后端接入：</a:t>
            </a:r>
            <a:r>
              <a:rPr lang="zh-CN" altLang="en-US"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完成了 </a:t>
            </a:r>
            <a:r>
              <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WSL + Docker </a:t>
            </a:r>
            <a:r>
              <a:rPr lang="zh-CN" altLang="en-US"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的本地评测环境搭建，并成功接入了 </a:t>
            </a:r>
            <a:r>
              <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DeepSeek V4 Pro High </a:t>
            </a:r>
            <a:r>
              <a:rPr lang="zh-CN" altLang="en-US"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作为大语言模型后端。</a:t>
            </a:r>
            <a:endPar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endParaRPr>
          </a:p>
          <a:p>
            <a:endPar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endParaRPr>
          </a:p>
          <a:p>
            <a:r>
              <a:rPr lang="en-US" altLang="zh-CN" sz="2000" b="1"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	</a:t>
            </a:r>
            <a:r>
              <a:rPr lang="zh-CN" altLang="en-US" sz="2000" b="1"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基础案例初步跑通：</a:t>
            </a:r>
            <a:r>
              <a:rPr lang="zh-CN" altLang="en-US"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针对 </a:t>
            </a:r>
            <a:r>
              <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5 </a:t>
            </a:r>
            <a:r>
              <a:rPr lang="zh-CN" altLang="en-US"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个 </a:t>
            </a:r>
            <a:r>
              <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SWE-bench Lite </a:t>
            </a:r>
            <a:r>
              <a:rPr lang="en-US" altLang="zh-CN" sz="2000" dirty="0" err="1">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Astropy</a:t>
            </a:r>
            <a:r>
              <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 </a:t>
            </a:r>
            <a:r>
              <a:rPr lang="zh-CN" altLang="en-US"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基础案例进行了全流程验证，初步结果表明定位和修复流程可以闭环（如表</a:t>
            </a:r>
            <a:r>
              <a:rPr lang="en-US" altLang="zh-CN"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1</a:t>
            </a:r>
            <a:r>
              <a:rPr lang="zh-CN" altLang="en-US" sz="2000" dirty="0">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rPr>
              <a:t>所示），验证了本地框架的正确性。</a:t>
            </a:r>
          </a:p>
        </p:txBody>
      </p:sp>
    </p:spTree>
    <p:extLst>
      <p:ext uri="{BB962C8B-B14F-4D97-AF65-F5344CB8AC3E}">
        <p14:creationId xmlns:p14="http://schemas.microsoft.com/office/powerpoint/2010/main" val="250246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p:tgtEl>
                                          <p:spTgt spid="15"/>
                                        </p:tgtEl>
                                        <p:attrNameLst>
                                          <p:attrName>ppt_y</p:attrName>
                                        </p:attrNameLst>
                                      </p:cBhvr>
                                      <p:tavLst>
                                        <p:tav tm="0">
                                          <p:val>
                                            <p:strVal val="#ppt_y-#ppt_h*1.125000"/>
                                          </p:val>
                                        </p:tav>
                                        <p:tav tm="100000">
                                          <p:val>
                                            <p:strVal val="#ppt_y"/>
                                          </p:val>
                                        </p:tav>
                                      </p:tavLst>
                                    </p:anim>
                                    <p:animEffect transition="in" filter="wipe(down)">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335915" y="447040"/>
            <a:ext cx="5673725" cy="596900"/>
          </a:xfrm>
          <a:prstGeom prst="rect">
            <a:avLst/>
          </a:prstGeom>
          <a:noFill/>
        </p:spPr>
        <p:txBody>
          <a:bodyPr wrap="square" rtlCol="0">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技术选型</a:t>
            </a:r>
            <a:endParaRPr 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2">
            <a:extLst>
              <a:ext uri="{FF2B5EF4-FFF2-40B4-BE49-F238E27FC236}">
                <a16:creationId xmlns:a16="http://schemas.microsoft.com/office/drawing/2014/main" id="{3E13DB38-E1B0-C882-E03B-7577DD6AB976}"/>
              </a:ext>
            </a:extLst>
          </p:cNvPr>
          <p:cNvSpPr txBox="1"/>
          <p:nvPr/>
        </p:nvSpPr>
        <p:spPr>
          <a:xfrm>
            <a:off x="756743" y="1702676"/>
            <a:ext cx="10413125" cy="3693319"/>
          </a:xfrm>
          <a:prstGeom prst="rect">
            <a:avLst/>
          </a:prstGeom>
          <a:noFill/>
        </p:spPr>
        <p:txBody>
          <a:bodyPr wrap="square" rtlCol="0">
            <a:spAutoFit/>
          </a:bodyPr>
          <a:lstStyle/>
          <a:p>
            <a:r>
              <a:rPr lang="zh-CN" altLang="en-US" dirty="0"/>
              <a:t>（</a:t>
            </a:r>
            <a:r>
              <a:rPr lang="en-US" altLang="zh-CN" dirty="0"/>
              <a:t>1</a:t>
            </a:r>
            <a:r>
              <a:rPr lang="zh-CN" altLang="en-US" dirty="0"/>
              <a:t>）框架	</a:t>
            </a:r>
            <a:r>
              <a:rPr lang="en-US" altLang="zh-CN" dirty="0"/>
              <a:t>AGENTLESS</a:t>
            </a:r>
            <a:r>
              <a:rPr lang="zh-CN" altLang="en-US" dirty="0"/>
              <a:t>（利用代码定位、修复、补丁验证实现无需代理的自动解决复杂问题，整体设计简洁且有效，避免了复杂的代理决策和工具使用。）</a:t>
            </a:r>
            <a:endParaRPr lang="en-US" altLang="zh-CN" dirty="0"/>
          </a:p>
          <a:p>
            <a:endParaRPr lang="en-US" altLang="zh-CN" dirty="0"/>
          </a:p>
          <a:p>
            <a:r>
              <a:rPr lang="zh-CN" altLang="en-US" dirty="0"/>
              <a:t>（</a:t>
            </a:r>
            <a:r>
              <a:rPr lang="en-US" altLang="zh-CN" dirty="0"/>
              <a:t>2</a:t>
            </a:r>
            <a:r>
              <a:rPr lang="zh-CN" altLang="en-US" dirty="0"/>
              <a:t>）基础环境      </a:t>
            </a:r>
            <a:r>
              <a:rPr lang="en-US" altLang="zh-CN" dirty="0"/>
              <a:t>WSL + Docker </a:t>
            </a:r>
            <a:r>
              <a:rPr lang="zh-CN" altLang="en-US" dirty="0"/>
              <a:t>（</a:t>
            </a:r>
            <a:r>
              <a:rPr lang="zh-CN" altLang="zh-CN" dirty="0"/>
              <a:t>Docker是一种广泛使用的容器化平台，允许应用程序及其依赖项打包到一个可移植的容器中</a:t>
            </a:r>
            <a:r>
              <a:rPr lang="zh-CN" altLang="en-US" dirty="0"/>
              <a:t>，便于实现快速复现与并发改进模块的编排）</a:t>
            </a:r>
            <a:endParaRPr lang="en-US" altLang="zh-CN" dirty="0"/>
          </a:p>
          <a:p>
            <a:endParaRPr lang="zh-CN" altLang="en-US" dirty="0"/>
          </a:p>
          <a:p>
            <a:r>
              <a:rPr lang="zh-CN" altLang="en-US" dirty="0"/>
              <a:t>（</a:t>
            </a:r>
            <a:r>
              <a:rPr lang="en-US" altLang="zh-CN" dirty="0"/>
              <a:t>3</a:t>
            </a:r>
            <a:r>
              <a:rPr lang="zh-CN" altLang="en-US" dirty="0"/>
              <a:t>）测试数据集	  </a:t>
            </a:r>
            <a:r>
              <a:rPr lang="en-US" altLang="zh-CN" dirty="0"/>
              <a:t>SWE-bench</a:t>
            </a:r>
            <a:r>
              <a:rPr lang="zh-CN" altLang="en-US" dirty="0"/>
              <a:t>（论文原生数据集，可有效体现效果）</a:t>
            </a:r>
            <a:endParaRPr lang="en-US" altLang="zh-CN" dirty="0"/>
          </a:p>
          <a:p>
            <a:endParaRPr lang="zh-CN" altLang="en-US" dirty="0"/>
          </a:p>
          <a:p>
            <a:r>
              <a:rPr lang="zh-CN" altLang="en-US" dirty="0"/>
              <a:t>（</a:t>
            </a:r>
            <a:r>
              <a:rPr lang="en-US" altLang="zh-CN" dirty="0"/>
              <a:t>4</a:t>
            </a:r>
            <a:r>
              <a:rPr lang="zh-CN" altLang="en-US" dirty="0"/>
              <a:t>）</a:t>
            </a:r>
            <a:r>
              <a:rPr lang="en-US" altLang="zh-CN" dirty="0"/>
              <a:t>LLM</a:t>
            </a:r>
            <a:r>
              <a:rPr lang="zh-CN" altLang="en-US" dirty="0"/>
              <a:t>模型	</a:t>
            </a:r>
            <a:r>
              <a:rPr lang="en-US" altLang="zh-CN" dirty="0"/>
              <a:t>DeepSeek V4 PRO </a:t>
            </a:r>
            <a:r>
              <a:rPr lang="zh-CN" altLang="en-US" dirty="0"/>
              <a:t>（成本低，支持代码生成，无需本地部署）</a:t>
            </a:r>
            <a:endParaRPr lang="en-US" altLang="zh-CN" dirty="0"/>
          </a:p>
          <a:p>
            <a:endParaRPr lang="zh-CN" altLang="en-US" dirty="0"/>
          </a:p>
          <a:p>
            <a:r>
              <a:rPr lang="zh-CN" altLang="en-US" dirty="0"/>
              <a:t>（</a:t>
            </a:r>
            <a:r>
              <a:rPr lang="en-US" altLang="zh-CN" dirty="0"/>
              <a:t>5</a:t>
            </a:r>
            <a:r>
              <a:rPr lang="zh-CN" altLang="en-US" dirty="0"/>
              <a:t>）提示工程	手动设计</a:t>
            </a:r>
            <a:r>
              <a:rPr lang="en-US" altLang="zh-CN" dirty="0"/>
              <a:t>Few-shot</a:t>
            </a:r>
            <a:r>
              <a:rPr lang="zh-CN" altLang="en-US" dirty="0"/>
              <a:t>提示模板，显式提示大模型关注并发错误</a:t>
            </a:r>
            <a:endParaRPr lang="en-US" altLang="zh-CN" dirty="0"/>
          </a:p>
          <a:p>
            <a:endParaRPr lang="zh-CN" altLang="en-US" dirty="0"/>
          </a:p>
          <a:p>
            <a:r>
              <a:rPr lang="zh-CN" altLang="en-US" dirty="0"/>
              <a:t>（</a:t>
            </a:r>
            <a:r>
              <a:rPr lang="en-US" altLang="zh-CN" dirty="0"/>
              <a:t>6</a:t>
            </a:r>
            <a:r>
              <a:rPr lang="zh-CN" altLang="en-US" dirty="0"/>
              <a:t>）验证方式	重新运行测试工具 </a:t>
            </a:r>
            <a:r>
              <a:rPr lang="en-US" altLang="zh-CN" dirty="0"/>
              <a:t>+ </a:t>
            </a:r>
            <a:r>
              <a:rPr lang="zh-CN" altLang="en-US" dirty="0"/>
              <a:t>原生框架检查</a:t>
            </a:r>
            <a:r>
              <a:rPr lang="en-US" altLang="zh-CN" dirty="0"/>
              <a:t>+</a:t>
            </a:r>
            <a:r>
              <a:rPr lang="zh-CN" altLang="en-US" dirty="0"/>
              <a:t>改进的静态分析模块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FF92B-C9B0-AA35-E563-5B789CE73C87}"/>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7D45036A-BEFA-555A-4A2D-773CC0A1B8EA}"/>
              </a:ext>
            </a:extLst>
          </p:cNvPr>
          <p:cNvSpPr/>
          <p:nvPr/>
        </p:nvSpPr>
        <p:spPr>
          <a:xfrm>
            <a:off x="7717319" y="21708"/>
            <a:ext cx="6560537" cy="1002178"/>
          </a:xfrm>
          <a:custGeom>
            <a:avLst/>
            <a:gdLst>
              <a:gd name="connsiteX0" fmla="*/ 897371 w 6560537"/>
              <a:gd name="connsiteY0" fmla="*/ 0 h 1002178"/>
              <a:gd name="connsiteX1" fmla="*/ 6560537 w 6560537"/>
              <a:gd name="connsiteY1" fmla="*/ 0 h 1002178"/>
              <a:gd name="connsiteX2" fmla="*/ 6560537 w 6560537"/>
              <a:gd name="connsiteY2" fmla="*/ 1002178 h 1002178"/>
              <a:gd name="connsiteX3" fmla="*/ 0 w 6560537"/>
              <a:gd name="connsiteY3" fmla="*/ 1002178 h 1002178"/>
            </a:gdLst>
            <a:ahLst/>
            <a:cxnLst>
              <a:cxn ang="0">
                <a:pos x="connsiteX0" y="connsiteY0"/>
              </a:cxn>
              <a:cxn ang="0">
                <a:pos x="connsiteX1" y="connsiteY1"/>
              </a:cxn>
              <a:cxn ang="0">
                <a:pos x="connsiteX2" y="connsiteY2"/>
              </a:cxn>
              <a:cxn ang="0">
                <a:pos x="connsiteX3" y="connsiteY3"/>
              </a:cxn>
            </a:cxnLst>
            <a:rect l="l" t="t" r="r" b="b"/>
            <a:pathLst>
              <a:path w="6560537" h="1002178">
                <a:moveTo>
                  <a:pt x="897371" y="0"/>
                </a:moveTo>
                <a:lnTo>
                  <a:pt x="6560537" y="0"/>
                </a:lnTo>
                <a:lnTo>
                  <a:pt x="6560537" y="1002178"/>
                </a:lnTo>
                <a:lnTo>
                  <a:pt x="0" y="1002178"/>
                </a:lnTo>
                <a:close/>
              </a:path>
            </a:pathLst>
          </a:cu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 0">
            <a:extLst>
              <a:ext uri="{FF2B5EF4-FFF2-40B4-BE49-F238E27FC236}">
                <a16:creationId xmlns:a16="http://schemas.microsoft.com/office/drawing/2014/main" id="{00E94B42-84B2-5955-7237-AB26A948BE81}"/>
              </a:ext>
            </a:extLst>
          </p:cNvPr>
          <p:cNvSpPr/>
          <p:nvPr/>
        </p:nvSpPr>
        <p:spPr>
          <a:xfrm>
            <a:off x="134007" y="232287"/>
            <a:ext cx="5670590" cy="708779"/>
          </a:xfrm>
          <a:prstGeom prst="rect">
            <a:avLst/>
          </a:prstGeom>
          <a:noFill/>
          <a:ln/>
        </p:spPr>
        <p:txBody>
          <a:bodyPr wrap="none" lIns="0" tIns="0" rIns="0" bIns="0" rtlCol="0" anchor="t"/>
          <a:lstStyle/>
          <a:p>
            <a:pPr marL="0" indent="0" algn="l">
              <a:lnSpc>
                <a:spcPts val="5550"/>
              </a:lnSpc>
              <a:buNone/>
            </a:pPr>
            <a:r>
              <a:rPr lang="en-US" altLang="zh-CN" sz="4450" b="1" dirty="0">
                <a:solidFill>
                  <a:srgbClr val="282824"/>
                </a:solidFill>
                <a:latin typeface="Lato Bold" pitchFamily="34" charset="0"/>
                <a:ea typeface="Lato Bold" pitchFamily="34" charset="-122"/>
                <a:cs typeface="Lato Bold" pitchFamily="34" charset="-120"/>
              </a:rPr>
              <a:t>LLM</a:t>
            </a:r>
            <a:r>
              <a:rPr lang="zh-CN" altLang="en-US" sz="4450" b="1" dirty="0">
                <a:solidFill>
                  <a:srgbClr val="282824"/>
                </a:solidFill>
                <a:latin typeface="Lato Bold" pitchFamily="34" charset="0"/>
                <a:ea typeface="Lato Bold" pitchFamily="34" charset="-122"/>
                <a:cs typeface="Lato Bold" pitchFamily="34" charset="-120"/>
              </a:rPr>
              <a:t>辅助并发程序修复</a:t>
            </a:r>
            <a:endParaRPr lang="en-US" sz="4450" dirty="0"/>
          </a:p>
        </p:txBody>
      </p:sp>
      <p:sp>
        <p:nvSpPr>
          <p:cNvPr id="6" name="Text 1">
            <a:extLst>
              <a:ext uri="{FF2B5EF4-FFF2-40B4-BE49-F238E27FC236}">
                <a16:creationId xmlns:a16="http://schemas.microsoft.com/office/drawing/2014/main" id="{E83605A6-0BC4-22CC-B82C-58BD2DA49E47}"/>
              </a:ext>
            </a:extLst>
          </p:cNvPr>
          <p:cNvSpPr/>
          <p:nvPr/>
        </p:nvSpPr>
        <p:spPr>
          <a:xfrm>
            <a:off x="3257598" y="2070263"/>
            <a:ext cx="13042821" cy="362903"/>
          </a:xfrm>
          <a:prstGeom prst="rect">
            <a:avLst/>
          </a:prstGeom>
          <a:noFill/>
          <a:ln/>
        </p:spPr>
        <p:txBody>
          <a:bodyPr wrap="none" lIns="0" tIns="0" rIns="0" bIns="0" rtlCol="0" anchor="t"/>
          <a:lstStyle/>
          <a:p>
            <a:pPr marL="342900" indent="-342900" algn="just">
              <a:lnSpc>
                <a:spcPts val="2850"/>
              </a:lnSpc>
              <a:buSzPct val="100000"/>
              <a:buFont typeface="+mj-lt"/>
              <a:buAutoNum type="arabicPeriod"/>
            </a:pPr>
            <a:r>
              <a:rPr lang="en-US" sz="3600" b="1" dirty="0">
                <a:solidFill>
                  <a:srgbClr val="4A4A45"/>
                </a:solidFill>
                <a:latin typeface="Lato" pitchFamily="34" charset="0"/>
                <a:ea typeface="Lato" pitchFamily="34" charset="-122"/>
                <a:cs typeface="Lato" pitchFamily="34" charset="-120"/>
              </a:rPr>
              <a:t>               </a:t>
            </a:r>
            <a:r>
              <a:rPr lang="zh-CN" altLang="en-US" sz="3600" b="1" dirty="0">
                <a:latin typeface="Lato" pitchFamily="34" charset="0"/>
                <a:ea typeface="Lato" pitchFamily="34" charset="-122"/>
                <a:cs typeface="Lato" pitchFamily="34" charset="-120"/>
              </a:rPr>
              <a:t>项目选题背景</a:t>
            </a:r>
            <a:r>
              <a:rPr lang="en-US" sz="1750" dirty="0">
                <a:latin typeface="Lato" pitchFamily="34" charset="0"/>
                <a:ea typeface="Lato" pitchFamily="34" charset="-122"/>
                <a:cs typeface="Lato" pitchFamily="34" charset="-120"/>
              </a:rPr>
              <a:t> </a:t>
            </a:r>
            <a:endParaRPr lang="en-US" sz="1750" dirty="0"/>
          </a:p>
        </p:txBody>
      </p:sp>
      <p:sp>
        <p:nvSpPr>
          <p:cNvPr id="7" name="Text 2">
            <a:extLst>
              <a:ext uri="{FF2B5EF4-FFF2-40B4-BE49-F238E27FC236}">
                <a16:creationId xmlns:a16="http://schemas.microsoft.com/office/drawing/2014/main" id="{F2A69537-6A6A-8ABB-D7B7-5D663580B8C7}"/>
              </a:ext>
            </a:extLst>
          </p:cNvPr>
          <p:cNvSpPr/>
          <p:nvPr/>
        </p:nvSpPr>
        <p:spPr>
          <a:xfrm>
            <a:off x="3257598" y="5229615"/>
            <a:ext cx="13042821" cy="362903"/>
          </a:xfrm>
          <a:prstGeom prst="rect">
            <a:avLst/>
          </a:prstGeom>
          <a:noFill/>
          <a:ln/>
        </p:spPr>
        <p:txBody>
          <a:bodyPr wrap="none" lIns="0" tIns="0" rIns="0" bIns="0" rtlCol="0" anchor="t"/>
          <a:lstStyle/>
          <a:p>
            <a:pPr algn="l">
              <a:lnSpc>
                <a:spcPts val="2850"/>
              </a:lnSpc>
              <a:buSzPct val="100000"/>
            </a:pPr>
            <a:r>
              <a:rPr lang="en-US" sz="3600" b="1" dirty="0">
                <a:solidFill>
                  <a:srgbClr val="4A4A45"/>
                </a:solidFill>
                <a:latin typeface="Lato" pitchFamily="34" charset="0"/>
                <a:ea typeface="Lato" pitchFamily="34" charset="-122"/>
                <a:cs typeface="Lato" pitchFamily="34" charset="-120"/>
              </a:rPr>
              <a:t>4.             </a:t>
            </a:r>
            <a:r>
              <a:rPr lang="zh-CN" altLang="en-US" sz="3600" b="1" dirty="0">
                <a:solidFill>
                  <a:srgbClr val="FF0000"/>
                </a:solidFill>
                <a:latin typeface="Lato" pitchFamily="34" charset="0"/>
                <a:ea typeface="Lato" pitchFamily="34" charset="-122"/>
                <a:cs typeface="Lato" pitchFamily="34" charset="-120"/>
              </a:rPr>
              <a:t>预期成果与时间安排</a:t>
            </a:r>
            <a:r>
              <a:rPr lang="en-US" sz="3600" b="1" dirty="0">
                <a:solidFill>
                  <a:srgbClr val="FF0000"/>
                </a:solidFill>
                <a:latin typeface="Lato" pitchFamily="34" charset="0"/>
                <a:ea typeface="Lato" pitchFamily="34" charset="-122"/>
                <a:cs typeface="Lato" pitchFamily="34" charset="-120"/>
              </a:rPr>
              <a:t> </a:t>
            </a:r>
          </a:p>
        </p:txBody>
      </p:sp>
      <p:sp>
        <p:nvSpPr>
          <p:cNvPr id="9" name="Text 3">
            <a:extLst>
              <a:ext uri="{FF2B5EF4-FFF2-40B4-BE49-F238E27FC236}">
                <a16:creationId xmlns:a16="http://schemas.microsoft.com/office/drawing/2014/main" id="{86476352-9DE6-D343-2D0F-18C66B19147D}"/>
              </a:ext>
            </a:extLst>
          </p:cNvPr>
          <p:cNvSpPr/>
          <p:nvPr/>
        </p:nvSpPr>
        <p:spPr>
          <a:xfrm>
            <a:off x="3257598" y="421668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研究目标与路线</a:t>
            </a:r>
            <a:endParaRPr lang="en-US" sz="1750" dirty="0"/>
          </a:p>
        </p:txBody>
      </p:sp>
      <p:sp>
        <p:nvSpPr>
          <p:cNvPr id="11" name="文本框 10">
            <a:extLst>
              <a:ext uri="{FF2B5EF4-FFF2-40B4-BE49-F238E27FC236}">
                <a16:creationId xmlns:a16="http://schemas.microsoft.com/office/drawing/2014/main" id="{219E9F6B-49F9-87BA-EB65-008EA032CE5C}"/>
              </a:ext>
            </a:extLst>
          </p:cNvPr>
          <p:cNvSpPr txBox="1"/>
          <p:nvPr/>
        </p:nvSpPr>
        <p:spPr>
          <a:xfrm>
            <a:off x="9146243" y="134229"/>
            <a:ext cx="4937760" cy="777136"/>
          </a:xfrm>
          <a:prstGeom prst="rect">
            <a:avLst/>
          </a:prstGeom>
          <a:noFill/>
        </p:spPr>
        <p:txBody>
          <a:bodyPr wrap="square" rtlCol="0">
            <a:spAutoFit/>
          </a:bodyPr>
          <a:lstStyle/>
          <a:p>
            <a:r>
              <a:rPr lang="zh-CN" altLang="en-US" sz="4450" b="1" dirty="0">
                <a:solidFill>
                  <a:srgbClr val="282824"/>
                </a:solidFill>
                <a:latin typeface="Lato Bold" pitchFamily="34" charset="0"/>
                <a:cs typeface="Lato Bold" pitchFamily="34" charset="-120"/>
              </a:rPr>
              <a:t>        </a:t>
            </a:r>
            <a:r>
              <a:rPr lang="zh-CN" altLang="en-US" sz="4450" b="1" dirty="0">
                <a:solidFill>
                  <a:schemeClr val="bg1"/>
                </a:solidFill>
                <a:latin typeface="Lato Bold" pitchFamily="34" charset="0"/>
                <a:cs typeface="Lato Bold" pitchFamily="34" charset="-120"/>
              </a:rPr>
              <a:t>目录</a:t>
            </a:r>
          </a:p>
        </p:txBody>
      </p:sp>
      <p:cxnSp>
        <p:nvCxnSpPr>
          <p:cNvPr id="12" name="直接箭头连接符 21">
            <a:extLst>
              <a:ext uri="{FF2B5EF4-FFF2-40B4-BE49-F238E27FC236}">
                <a16:creationId xmlns:a16="http://schemas.microsoft.com/office/drawing/2014/main" id="{DCCF6475-E1B8-71CB-962D-B6245374DE12}"/>
              </a:ext>
            </a:extLst>
          </p:cNvPr>
          <p:cNvCxnSpPr>
            <a:cxnSpLocks/>
          </p:cNvCxnSpPr>
          <p:nvPr/>
        </p:nvCxnSpPr>
        <p:spPr>
          <a:xfrm>
            <a:off x="3644355" y="258968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3" name="直接箭头连接符 21">
            <a:extLst>
              <a:ext uri="{FF2B5EF4-FFF2-40B4-BE49-F238E27FC236}">
                <a16:creationId xmlns:a16="http://schemas.microsoft.com/office/drawing/2014/main" id="{BBCEE636-5281-3373-626E-F04520CF956C}"/>
              </a:ext>
            </a:extLst>
          </p:cNvPr>
          <p:cNvCxnSpPr>
            <a:cxnSpLocks/>
          </p:cNvCxnSpPr>
          <p:nvPr/>
        </p:nvCxnSpPr>
        <p:spPr>
          <a:xfrm>
            <a:off x="3845019" y="580778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14" name="直接箭头连接符 21">
            <a:extLst>
              <a:ext uri="{FF2B5EF4-FFF2-40B4-BE49-F238E27FC236}">
                <a16:creationId xmlns:a16="http://schemas.microsoft.com/office/drawing/2014/main" id="{C1C00FC1-1566-CC17-6AD7-1E57092262D9}"/>
              </a:ext>
            </a:extLst>
          </p:cNvPr>
          <p:cNvCxnSpPr>
            <a:cxnSpLocks/>
          </p:cNvCxnSpPr>
          <p:nvPr/>
        </p:nvCxnSpPr>
        <p:spPr>
          <a:xfrm>
            <a:off x="3644357" y="4689736"/>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
        <p:nvSpPr>
          <p:cNvPr id="4" name="Text 2">
            <a:extLst>
              <a:ext uri="{FF2B5EF4-FFF2-40B4-BE49-F238E27FC236}">
                <a16:creationId xmlns:a16="http://schemas.microsoft.com/office/drawing/2014/main" id="{F8076B9E-CED7-AF02-D84A-2CCCFD8BF454}"/>
              </a:ext>
            </a:extLst>
          </p:cNvPr>
          <p:cNvSpPr/>
          <p:nvPr/>
        </p:nvSpPr>
        <p:spPr>
          <a:xfrm>
            <a:off x="3257598" y="308748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3600" b="1" dirty="0">
                <a:solidFill>
                  <a:srgbClr val="4A4A45"/>
                </a:solidFill>
                <a:latin typeface="Lato" pitchFamily="34" charset="0"/>
                <a:ea typeface="Lato" pitchFamily="34" charset="-122"/>
                <a:cs typeface="Lato" pitchFamily="34" charset="-120"/>
              </a:rPr>
              <a:t>               </a:t>
            </a:r>
            <a:r>
              <a:rPr lang="zh-CN" altLang="en-US" sz="3600" b="1" dirty="0">
                <a:solidFill>
                  <a:srgbClr val="4A4A45"/>
                </a:solidFill>
                <a:latin typeface="Lato" pitchFamily="34" charset="0"/>
                <a:ea typeface="Lato" pitchFamily="34" charset="-122"/>
                <a:cs typeface="Lato" pitchFamily="34" charset="-120"/>
              </a:rPr>
              <a:t>国内外研究现状</a:t>
            </a:r>
            <a:r>
              <a:rPr lang="en-US" sz="3600" b="1" dirty="0">
                <a:solidFill>
                  <a:srgbClr val="4A4A45"/>
                </a:solidFill>
                <a:latin typeface="Lato" pitchFamily="34" charset="0"/>
                <a:ea typeface="Lato" pitchFamily="34" charset="-122"/>
                <a:cs typeface="Lato" pitchFamily="34" charset="-120"/>
              </a:rPr>
              <a:t> </a:t>
            </a:r>
          </a:p>
        </p:txBody>
      </p:sp>
      <p:cxnSp>
        <p:nvCxnSpPr>
          <p:cNvPr id="5" name="直接箭头连接符 21">
            <a:extLst>
              <a:ext uri="{FF2B5EF4-FFF2-40B4-BE49-F238E27FC236}">
                <a16:creationId xmlns:a16="http://schemas.microsoft.com/office/drawing/2014/main" id="{630BBEDB-C27C-120A-28F1-D6378CCE661C}"/>
              </a:ext>
            </a:extLst>
          </p:cNvPr>
          <p:cNvCxnSpPr>
            <a:cxnSpLocks/>
          </p:cNvCxnSpPr>
          <p:nvPr/>
        </p:nvCxnSpPr>
        <p:spPr>
          <a:xfrm>
            <a:off x="3644356" y="3566651"/>
            <a:ext cx="5395819" cy="0"/>
          </a:xfrm>
          <a:prstGeom prst="straightConnector1">
            <a:avLst/>
          </a:prstGeom>
          <a:ln w="15875">
            <a:solidFill>
              <a:schemeClr val="tx2">
                <a:alpha val="50000"/>
              </a:schemeClr>
            </a:solidFill>
            <a:prstDash val="dash"/>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535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264795" y="447040"/>
            <a:ext cx="5154295" cy="596900"/>
          </a:xfrm>
          <a:prstGeom prst="rect">
            <a:avLst/>
          </a:prstGeom>
          <a:noFill/>
        </p:spPr>
        <p:txBody>
          <a:bodyPr wrap="square" rtlCol="0">
            <a:no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预期成果与时间安排</a:t>
            </a:r>
            <a:endParaRPr 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algn="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0" y="1332865"/>
            <a:ext cx="9481185" cy="2308324"/>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1.</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原型系统：改进后的基于</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AGENTLESS</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的自动化程序修复框架，优化并发缺陷修复</a:t>
            </a:r>
            <a:endPar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2.</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实验分析报告：包含修复成功率、并发缺陷修复设计、提示词设计；</a:t>
            </a:r>
          </a:p>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3.</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课程展示材料：</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PPT</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、演示视频、代码仓库（</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GitHub</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a:t>
            </a:r>
          </a:p>
          <a:p>
            <a:pPr lvl="0" indent="457200" algn="l">
              <a:defRPr/>
            </a:pP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4.</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技术指标：支持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--repeat 10 </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以上，输出 </a:t>
            </a:r>
            <a:r>
              <a:rPr lang="en-US" altLang="zh-CN" sz="18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pass_rate</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的多轮验证；自动化输出 </a:t>
            </a:r>
            <a:r>
              <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	</a:t>
            </a:r>
            <a:r>
              <a:rPr lang="en-US" altLang="zh-CN" sz="1800" b="1" dirty="0" err="1">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risk_level</a:t>
            </a:r>
            <a:r>
              <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rPr>
              <a:t>，精确识别无锁高危补丁</a:t>
            </a:r>
            <a:endParaRPr lang="en-US" altLang="zh-CN"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a:p>
            <a:pPr lvl="0" indent="457200" algn="l">
              <a:defRPr/>
            </a:pPr>
            <a:endParaRPr lang="zh-CN" altLang="en-US" sz="1800" b="1" dirty="0">
              <a:solidFill>
                <a:schemeClr val="tx1">
                  <a:lumMod val="75000"/>
                  <a:lumOff val="25000"/>
                </a:schemeClr>
              </a:solidFill>
              <a:effectLst>
                <a:outerShdw blurRad="63500" sx="102000" sy="102000" algn="ctr" rotWithShape="0">
                  <a:schemeClr val="bg1">
                    <a:alpha val="20000"/>
                  </a:schemeClr>
                </a:outerShdw>
              </a:effectLst>
              <a:latin typeface="微软雅黑" panose="020B0503020204020204" pitchFamily="34" charset="-122"/>
              <a:ea typeface="微软雅黑" panose="020B0503020204020204" pitchFamily="34" charset="-122"/>
              <a:sym typeface="Arial" panose="020B0604020202020204" pitchFamily="34" charset="0"/>
            </a:endParaRPr>
          </a:p>
          <a:p>
            <a:pPr marL="0" marR="0" lvl="0" indent="457200" algn="l" defTabSz="914400" rtl="0" eaLnBrk="1" fontAlgn="auto" latinLnBrk="0" hangingPunct="1">
              <a:lnSpc>
                <a:spcPct val="100000"/>
              </a:lnSpc>
              <a:spcBef>
                <a:spcPts val="0"/>
              </a:spcBef>
              <a:spcAft>
                <a:spcPts val="0"/>
              </a:spcAft>
              <a:buClrTx/>
              <a:buSzTx/>
              <a:buFontTx/>
              <a:buNone/>
              <a:defRPr/>
            </a:pPr>
            <a:endParaRPr kumimoji="0" lang="en-US" altLang="zh-CN" sz="18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a:p>
            <a:pPr marL="0" marR="0" lvl="0" indent="457200" algn="l" defTabSz="914400" rtl="0" eaLnBrk="1" fontAlgn="auto" latinLnBrk="0" hangingPunct="1">
              <a:lnSpc>
                <a:spcPct val="100000"/>
              </a:lnSpc>
              <a:spcBef>
                <a:spcPts val="0"/>
              </a:spcBef>
              <a:spcAft>
                <a:spcPts val="0"/>
              </a:spcAft>
              <a:buClrTx/>
              <a:buSzTx/>
              <a:buFontTx/>
              <a:buNone/>
              <a:defRPr/>
            </a:pPr>
            <a:endParaRPr kumimoji="0" lang="zh-CN" altLang="en-US" sz="18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graphicFrame>
        <p:nvGraphicFramePr>
          <p:cNvPr id="4" name="表格 3">
            <a:extLst>
              <a:ext uri="{FF2B5EF4-FFF2-40B4-BE49-F238E27FC236}">
                <a16:creationId xmlns:a16="http://schemas.microsoft.com/office/drawing/2014/main" id="{A9B8C036-A37F-C2CF-D2EF-DE331FCE7013}"/>
              </a:ext>
            </a:extLst>
          </p:cNvPr>
          <p:cNvGraphicFramePr>
            <a:graphicFrameLocks noGrp="1"/>
          </p:cNvGraphicFramePr>
          <p:nvPr>
            <p:extLst>
              <p:ext uri="{D42A27DB-BD31-4B8C-83A1-F6EECF244321}">
                <p14:modId xmlns:p14="http://schemas.microsoft.com/office/powerpoint/2010/main" val="786604724"/>
              </p:ext>
            </p:extLst>
          </p:nvPr>
        </p:nvGraphicFramePr>
        <p:xfrm>
          <a:off x="457200" y="2780397"/>
          <a:ext cx="10775731" cy="3980796"/>
        </p:xfrm>
        <a:graphic>
          <a:graphicData uri="http://schemas.openxmlformats.org/drawingml/2006/table">
            <a:tbl>
              <a:tblPr firstRow="1" firstCol="1" bandRow="1">
                <a:tableStyleId>{5C22544A-7EE6-4342-B048-85BDC9FD1C3A}</a:tableStyleId>
              </a:tblPr>
              <a:tblGrid>
                <a:gridCol w="3591477">
                  <a:extLst>
                    <a:ext uri="{9D8B030D-6E8A-4147-A177-3AD203B41FA5}">
                      <a16:colId xmlns:a16="http://schemas.microsoft.com/office/drawing/2014/main" val="2780722770"/>
                    </a:ext>
                  </a:extLst>
                </a:gridCol>
                <a:gridCol w="3591477">
                  <a:extLst>
                    <a:ext uri="{9D8B030D-6E8A-4147-A177-3AD203B41FA5}">
                      <a16:colId xmlns:a16="http://schemas.microsoft.com/office/drawing/2014/main" val="1162891729"/>
                    </a:ext>
                  </a:extLst>
                </a:gridCol>
                <a:gridCol w="3592777">
                  <a:extLst>
                    <a:ext uri="{9D8B030D-6E8A-4147-A177-3AD203B41FA5}">
                      <a16:colId xmlns:a16="http://schemas.microsoft.com/office/drawing/2014/main" val="374408804"/>
                    </a:ext>
                  </a:extLst>
                </a:gridCol>
              </a:tblGrid>
              <a:tr h="398080">
                <a:tc>
                  <a:txBody>
                    <a:bodyPr/>
                    <a:lstStyle/>
                    <a:p>
                      <a:pPr marL="266700" indent="266700" algn="just">
                        <a:buNone/>
                      </a:pPr>
                      <a:r>
                        <a:rPr lang="zh-CN" sz="1200" kern="100">
                          <a:effectLst/>
                        </a:rPr>
                        <a:t>阶段</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266700" indent="266700" algn="just">
                        <a:buNone/>
                      </a:pPr>
                      <a:r>
                        <a:rPr lang="zh-CN" sz="1200" kern="100">
                          <a:effectLst/>
                        </a:rPr>
                        <a:t>时间</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266700" indent="266700" algn="just">
                        <a:buNone/>
                      </a:pPr>
                      <a:r>
                        <a:rPr lang="zh-CN" sz="1200" kern="100">
                          <a:effectLst/>
                        </a:rPr>
                        <a:t>任务</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15925519"/>
                  </a:ext>
                </a:extLst>
              </a:tr>
              <a:tr h="796159">
                <a:tc>
                  <a:txBody>
                    <a:bodyPr/>
                    <a:lstStyle/>
                    <a:p>
                      <a:pPr algn="just">
                        <a:buNone/>
                      </a:pPr>
                      <a:r>
                        <a:rPr lang="zh-CN" sz="1200" kern="100" dirty="0">
                          <a:effectLst/>
                        </a:rPr>
                        <a:t>第</a:t>
                      </a:r>
                      <a:r>
                        <a:rPr lang="en-US" sz="1200" kern="100" dirty="0">
                          <a:effectLst/>
                        </a:rPr>
                        <a:t>1</a:t>
                      </a:r>
                      <a:r>
                        <a:rPr lang="zh-CN" sz="1200" kern="100" dirty="0">
                          <a:effectLst/>
                        </a:rPr>
                        <a:t>周</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1200" kern="100" dirty="0">
                          <a:effectLst/>
                        </a:rPr>
                        <a:t>调研与工具熟悉</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altLang="en-US" sz="1200" kern="100" dirty="0">
                          <a:effectLst/>
                        </a:rPr>
                        <a:t>阅读 </a:t>
                      </a:r>
                      <a:r>
                        <a:rPr lang="en-US" altLang="zh-CN" sz="1200" kern="100" dirty="0">
                          <a:effectLst/>
                        </a:rPr>
                        <a:t>AGENTLESS </a:t>
                      </a:r>
                      <a:r>
                        <a:rPr lang="zh-CN" altLang="en-US" sz="1200" kern="100" dirty="0">
                          <a:effectLst/>
                        </a:rPr>
                        <a:t>论文及源码，配置 </a:t>
                      </a:r>
                      <a:r>
                        <a:rPr lang="en-US" altLang="zh-CN" sz="1200" kern="100" dirty="0">
                          <a:effectLst/>
                        </a:rPr>
                        <a:t>WSL</a:t>
                      </a:r>
                      <a:r>
                        <a:rPr lang="zh-CN" altLang="en-US" sz="1200" kern="100" dirty="0">
                          <a:effectLst/>
                        </a:rPr>
                        <a:t>、</a:t>
                      </a:r>
                      <a:r>
                        <a:rPr lang="en-US" altLang="zh-CN" sz="1200" kern="100" dirty="0">
                          <a:effectLst/>
                        </a:rPr>
                        <a:t>Docker</a:t>
                      </a:r>
                      <a:r>
                        <a:rPr lang="zh-CN" altLang="en-US" sz="1200" kern="100" dirty="0">
                          <a:effectLst/>
                        </a:rPr>
                        <a:t>、</a:t>
                      </a:r>
                      <a:r>
                        <a:rPr lang="en-US" altLang="zh-CN" sz="1200" kern="100" dirty="0">
                          <a:effectLst/>
                        </a:rPr>
                        <a:t>Python </a:t>
                      </a:r>
                      <a:r>
                        <a:rPr lang="zh-CN" altLang="en-US" sz="1200" kern="100" dirty="0">
                          <a:effectLst/>
                        </a:rPr>
                        <a:t>基础开发环境。</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51669519"/>
                  </a:ext>
                </a:extLst>
              </a:tr>
              <a:tr h="796159">
                <a:tc>
                  <a:txBody>
                    <a:bodyPr/>
                    <a:lstStyle/>
                    <a:p>
                      <a:pPr algn="just">
                        <a:buNone/>
                      </a:pPr>
                      <a:r>
                        <a:rPr lang="zh-CN" altLang="en-US" sz="1050" kern="100" dirty="0">
                          <a:effectLst/>
                          <a:latin typeface="等线" panose="02010600030101010101" pitchFamily="2" charset="-122"/>
                          <a:ea typeface="等线" panose="02010600030101010101" pitchFamily="2" charset="-122"/>
                          <a:cs typeface="Times New Roman" panose="02020603050405020304" pitchFamily="18" charset="0"/>
                        </a:rPr>
                        <a:t>第</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050" kern="100" dirty="0">
                          <a:effectLst/>
                          <a:latin typeface="等线" panose="02010600030101010101" pitchFamily="2" charset="-122"/>
                          <a:ea typeface="等线" panose="02010600030101010101" pitchFamily="2" charset="-122"/>
                          <a:cs typeface="Times New Roman" panose="02020603050405020304" pitchFamily="18" charset="0"/>
                        </a:rPr>
                        <a:t>周</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050" kern="100" dirty="0">
                          <a:effectLst/>
                          <a:latin typeface="等线" panose="02010600030101010101" pitchFamily="2" charset="-122"/>
                          <a:ea typeface="+mn-ea"/>
                          <a:cs typeface="Times New Roman" panose="02020603050405020304" pitchFamily="18" charset="0"/>
                        </a:rPr>
                        <a:t>论文路线结果复现</a:t>
                      </a:r>
                      <a:endParaRPr lang="zh-CN" altLang="zh-CN" sz="1050" kern="100" dirty="0">
                        <a:effectLst/>
                        <a:latin typeface="等线" panose="02010600030101010101" pitchFamily="2" charset="-122"/>
                        <a:ea typeface="+mn-ea"/>
                        <a:cs typeface="Times New Roman" panose="02020603050405020304" pitchFamily="18" charset="0"/>
                      </a:endParaRPr>
                    </a:p>
                    <a:p>
                      <a:pPr algn="just">
                        <a:buNone/>
                      </a:pP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1050" kern="100" dirty="0">
                          <a:effectLst/>
                        </a:rPr>
                        <a:t>接入 </a:t>
                      </a:r>
                      <a:r>
                        <a:rPr lang="en-US" altLang="zh-CN" sz="1050" kern="100" dirty="0">
                          <a:effectLst/>
                        </a:rPr>
                        <a:t>DeepSeek Coder </a:t>
                      </a:r>
                      <a:r>
                        <a:rPr lang="zh-CN" altLang="en-US" sz="1050" kern="100" dirty="0">
                          <a:effectLst/>
                        </a:rPr>
                        <a:t>接口，执行官方 </a:t>
                      </a:r>
                      <a:r>
                        <a:rPr lang="en-US" altLang="zh-CN" sz="1050" kern="100" dirty="0">
                          <a:effectLst/>
                        </a:rPr>
                        <a:t>SWE-bench Lite 5</a:t>
                      </a:r>
                      <a:r>
                        <a:rPr lang="zh-CN" altLang="en-US" sz="1050" kern="100" dirty="0">
                          <a:effectLst/>
                        </a:rPr>
                        <a:t>个案例的定位与修复复现。</a:t>
                      </a:r>
                      <a:endParaRPr lang="zh-CN" altLang="zh-CN" sz="900" kern="100" dirty="0">
                        <a:effectLst/>
                        <a:latin typeface="等线" panose="02010600030101010101" pitchFamily="2" charset="-122"/>
                        <a:ea typeface="+mn-ea"/>
                        <a:cs typeface="Times New Roman" panose="02020603050405020304" pitchFamily="18" charset="0"/>
                      </a:endParaRPr>
                    </a:p>
                    <a:p>
                      <a:pPr algn="just">
                        <a:buNone/>
                      </a:pP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30536216"/>
                  </a:ext>
                </a:extLst>
              </a:tr>
              <a:tr h="796159">
                <a:tc>
                  <a:txBody>
                    <a:bodyPr/>
                    <a:lstStyle/>
                    <a:p>
                      <a:pPr algn="just">
                        <a:buNone/>
                      </a:pPr>
                      <a:r>
                        <a:rPr lang="zh-CN" sz="1200" kern="100" dirty="0">
                          <a:effectLst/>
                        </a:rPr>
                        <a:t>第</a:t>
                      </a:r>
                      <a:r>
                        <a:rPr lang="en-US" altLang="zh-CN" sz="1200" kern="100" dirty="0">
                          <a:effectLst/>
                        </a:rPr>
                        <a:t>3</a:t>
                      </a:r>
                      <a:r>
                        <a:rPr lang="zh-CN" sz="1200" kern="100" dirty="0">
                          <a:effectLst/>
                        </a:rPr>
                        <a:t>周</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altLang="en-US" sz="1050" kern="100" dirty="0">
                          <a:effectLst/>
                          <a:latin typeface="等线" panose="02010600030101010101" pitchFamily="2" charset="-122"/>
                          <a:ea typeface="+mn-ea"/>
                          <a:cs typeface="Times New Roman" panose="02020603050405020304" pitchFamily="18" charset="0"/>
                        </a:rPr>
                        <a:t>并发缺陷数据集构建</a:t>
                      </a:r>
                      <a:endParaRPr lang="zh-CN" altLang="zh-CN" sz="900" kern="100" dirty="0">
                        <a:effectLst/>
                        <a:latin typeface="等线" panose="02010600030101010101" pitchFamily="2" charset="-122"/>
                        <a:ea typeface="+mn-ea"/>
                        <a:cs typeface="Times New Roman" panose="02020603050405020304" pitchFamily="18" charset="0"/>
                      </a:endParaRPr>
                    </a:p>
                  </a:txBody>
                  <a:tcPr marL="68580" marR="68580" marT="0" marB="0"/>
                </a:tc>
                <a:tc>
                  <a:txBody>
                    <a:bodyPr/>
                    <a:lstStyle/>
                    <a:p>
                      <a:pPr algn="just">
                        <a:buNone/>
                      </a:pPr>
                      <a:r>
                        <a:rPr lang="zh-CN" altLang="en-US" sz="1200" kern="100" dirty="0">
                          <a:effectLst/>
                        </a:rPr>
                        <a:t>手工构造线程竞态并发缺陷案例（</a:t>
                      </a:r>
                      <a:r>
                        <a:rPr lang="en-US" altLang="zh-CN" sz="1200" kern="100" dirty="0" err="1">
                          <a:effectLst/>
                        </a:rPr>
                        <a:t>ConcurrentCounter</a:t>
                      </a:r>
                      <a:r>
                        <a:rPr lang="zh-CN" altLang="en-US" sz="1200" kern="100" dirty="0">
                          <a:effectLst/>
                        </a:rPr>
                        <a:t>），编写本地多线程压力测试用例。</a:t>
                      </a:r>
                      <a:endParaRPr lang="zh-CN" altLang="zh-CN" sz="1050" kern="100" dirty="0">
                        <a:effectLst/>
                        <a:latin typeface="等线" panose="02010600030101010101" pitchFamily="2" charset="-122"/>
                        <a:ea typeface="+mn-ea"/>
                        <a:cs typeface="Times New Roman" panose="02020603050405020304" pitchFamily="18" charset="0"/>
                      </a:endParaRPr>
                    </a:p>
                  </a:txBody>
                  <a:tcPr marL="68580" marR="68580" marT="0" marB="0"/>
                </a:tc>
                <a:extLst>
                  <a:ext uri="{0D108BD9-81ED-4DB2-BD59-A6C34878D82A}">
                    <a16:rowId xmlns:a16="http://schemas.microsoft.com/office/drawing/2014/main" val="3078273280"/>
                  </a:ext>
                </a:extLst>
              </a:tr>
              <a:tr h="796159">
                <a:tc>
                  <a:txBody>
                    <a:bodyPr/>
                    <a:lstStyle/>
                    <a:p>
                      <a:pPr algn="just">
                        <a:buNone/>
                      </a:pPr>
                      <a:r>
                        <a:rPr lang="zh-CN" sz="1200" kern="100" dirty="0">
                          <a:effectLst/>
                        </a:rPr>
                        <a:t>第</a:t>
                      </a:r>
                      <a:r>
                        <a:rPr lang="en-US" altLang="zh-CN" sz="1200" kern="100" dirty="0">
                          <a:effectLst/>
                        </a:rPr>
                        <a:t>4</a:t>
                      </a:r>
                      <a:r>
                        <a:rPr lang="zh-CN" sz="1200" kern="100" dirty="0">
                          <a:effectLst/>
                        </a:rPr>
                        <a:t>周</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altLang="en-US" sz="1200" kern="100" dirty="0">
                          <a:effectLst/>
                          <a:latin typeface="等线" panose="02010600030101010101" pitchFamily="2" charset="-122"/>
                          <a:ea typeface="+mn-ea"/>
                          <a:cs typeface="Times New Roman" panose="02020603050405020304" pitchFamily="18" charset="0"/>
                        </a:rPr>
                        <a:t>框架改进</a:t>
                      </a:r>
                      <a:endParaRPr lang="zh-CN" altLang="zh-CN" sz="1200" kern="100" dirty="0">
                        <a:effectLst/>
                        <a:latin typeface="等线" panose="02010600030101010101" pitchFamily="2" charset="-122"/>
                        <a:ea typeface="+mn-ea"/>
                        <a:cs typeface="Times New Roman" panose="02020603050405020304" pitchFamily="18" charset="0"/>
                      </a:endParaRPr>
                    </a:p>
                  </a:txBody>
                  <a:tcPr marL="68580" marR="68580" marT="0" marB="0"/>
                </a:tc>
                <a:tc>
                  <a:txBody>
                    <a:bodyPr/>
                    <a:lstStyle/>
                    <a:p>
                      <a:pPr algn="just">
                        <a:buNone/>
                      </a:pPr>
                      <a:r>
                        <a:rPr lang="zh-CN" altLang="en-US" sz="1200" kern="100" dirty="0">
                          <a:effectLst/>
                        </a:rPr>
                        <a:t>实现并发 </a:t>
                      </a:r>
                      <a:r>
                        <a:rPr lang="en-US" altLang="zh-CN" sz="1200" kern="100" dirty="0">
                          <a:effectLst/>
                        </a:rPr>
                        <a:t>Prompt </a:t>
                      </a:r>
                      <a:r>
                        <a:rPr lang="zh-CN" altLang="en-US" sz="1200" kern="100" dirty="0">
                          <a:effectLst/>
                        </a:rPr>
                        <a:t>增强、多轮评测逻辑和静态 </a:t>
                      </a:r>
                      <a:r>
                        <a:rPr lang="en-US" altLang="zh-CN" sz="1200" kern="100" dirty="0" err="1">
                          <a:effectLst/>
                        </a:rPr>
                        <a:t>patch_risk</a:t>
                      </a:r>
                      <a:r>
                        <a:rPr lang="en-US" altLang="zh-CN" sz="1200" kern="100" dirty="0">
                          <a:effectLst/>
                        </a:rPr>
                        <a:t> </a:t>
                      </a:r>
                      <a:r>
                        <a:rPr lang="zh-CN" altLang="en-US" sz="1200" kern="100" dirty="0">
                          <a:effectLst/>
                        </a:rPr>
                        <a:t>模块，收集 </a:t>
                      </a:r>
                      <a:r>
                        <a:rPr lang="en-US" altLang="zh-CN" sz="1200" kern="100" dirty="0">
                          <a:effectLst/>
                        </a:rPr>
                        <a:t>no-op/gold </a:t>
                      </a:r>
                      <a:r>
                        <a:rPr lang="zh-CN" altLang="en-US" sz="1200" kern="100" dirty="0">
                          <a:effectLst/>
                        </a:rPr>
                        <a:t>数据进行对比验证。</a:t>
                      </a:r>
                      <a:endParaRPr lang="zh-CN" altLang="zh-CN" sz="1050" kern="100" dirty="0">
                        <a:effectLst/>
                        <a:latin typeface="等线" panose="02010600030101010101" pitchFamily="2" charset="-122"/>
                        <a:ea typeface="+mn-ea"/>
                        <a:cs typeface="Times New Roman" panose="02020603050405020304" pitchFamily="18" charset="0"/>
                      </a:endParaRPr>
                    </a:p>
                  </a:txBody>
                  <a:tcPr marL="68580" marR="68580" marT="0" marB="0"/>
                </a:tc>
                <a:extLst>
                  <a:ext uri="{0D108BD9-81ED-4DB2-BD59-A6C34878D82A}">
                    <a16:rowId xmlns:a16="http://schemas.microsoft.com/office/drawing/2014/main" val="226600681"/>
                  </a:ext>
                </a:extLst>
              </a:tr>
              <a:tr h="398080">
                <a:tc>
                  <a:txBody>
                    <a:bodyPr/>
                    <a:lstStyle/>
                    <a:p>
                      <a:pPr algn="just">
                        <a:buNone/>
                      </a:pPr>
                      <a:r>
                        <a:rPr lang="zh-CN" sz="1200" kern="100" dirty="0">
                          <a:effectLst/>
                        </a:rPr>
                        <a:t>第</a:t>
                      </a:r>
                      <a:r>
                        <a:rPr lang="en-US" altLang="zh-CN" sz="1200" kern="100" dirty="0">
                          <a:effectLst/>
                        </a:rPr>
                        <a:t>5</a:t>
                      </a:r>
                      <a:r>
                        <a:rPr lang="zh-CN" sz="1200" kern="100" dirty="0">
                          <a:effectLst/>
                        </a:rPr>
                        <a:t>周</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altLang="en-US" sz="1050" kern="100" dirty="0">
                          <a:effectLst/>
                          <a:latin typeface="等线" panose="02010600030101010101" pitchFamily="2" charset="-122"/>
                          <a:ea typeface="等线" panose="02010600030101010101" pitchFamily="2" charset="-122"/>
                          <a:cs typeface="Times New Roman" panose="02020603050405020304" pitchFamily="18" charset="0"/>
                        </a:rPr>
                        <a:t>结果整理</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altLang="en-US" sz="1200" kern="100" dirty="0">
                          <a:effectLst/>
                        </a:rPr>
                        <a:t>整理系统各个模块文档，统计量化实验数据，编写并完善最终项目论文与提交材料。</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3753433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childTnLst>
                          </p:cTn>
                        </p:par>
                        <p:par>
                          <p:cTn id="8" fill="hold">
                            <p:stCondLst>
                              <p:cond delay="1000"/>
                            </p:stCondLst>
                            <p:childTnLst>
                              <p:par>
                                <p:cTn id="9" presetID="1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p:tgtEl>
                                          <p:spTgt spid="15"/>
                                        </p:tgtEl>
                                        <p:attrNameLst>
                                          <p:attrName>ppt_y</p:attrName>
                                        </p:attrNameLst>
                                      </p:cBhvr>
                                      <p:tavLst>
                                        <p:tav tm="0">
                                          <p:val>
                                            <p:strVal val="#ppt_y-#ppt_h*1.125000"/>
                                          </p:val>
                                        </p:tav>
                                        <p:tav tm="100000">
                                          <p:val>
                                            <p:strVal val="#ppt_y"/>
                                          </p:val>
                                        </p:tav>
                                      </p:tavLst>
                                    </p:anim>
                                    <p:animEffect transition="in" filter="wipe(down)">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337310"/>
          </a:xfrm>
          <a:prstGeom prst="rect">
            <a:avLst/>
          </a:prstGeom>
          <a:solidFill>
            <a:srgbClr val="4963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6"/>
          <p:cNvSpPr txBox="1"/>
          <p:nvPr/>
        </p:nvSpPr>
        <p:spPr>
          <a:xfrm>
            <a:off x="264795" y="447040"/>
            <a:ext cx="7435416" cy="596900"/>
          </a:xfrm>
          <a:prstGeom prst="rect">
            <a:avLst/>
          </a:prstGeom>
          <a:noFill/>
        </p:spPr>
        <p:txBody>
          <a:bodyPr wrap="square" rtlCol="0">
            <a:noAutofit/>
          </a:bodyPr>
          <a:lstStyle/>
          <a:p>
            <a:pPr algn="ctr"/>
            <a:r>
              <a:rPr lang="zh-CN" alt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rPr>
              <a:t>参考文献</a:t>
            </a:r>
            <a:endParaRPr lang="en-US" sz="2800" b="1" dirty="0">
              <a:solidFill>
                <a:schemeClr val="bg1">
                  <a:lumMod val="8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文本框 2">
            <a:extLst>
              <a:ext uri="{FF2B5EF4-FFF2-40B4-BE49-F238E27FC236}">
                <a16:creationId xmlns:a16="http://schemas.microsoft.com/office/drawing/2014/main" id="{94FD2726-2FA5-205A-0A5A-7E6C0C9E87CD}"/>
              </a:ext>
            </a:extLst>
          </p:cNvPr>
          <p:cNvSpPr txBox="1"/>
          <p:nvPr/>
        </p:nvSpPr>
        <p:spPr>
          <a:xfrm>
            <a:off x="1110888" y="1616910"/>
            <a:ext cx="10342760" cy="5262979"/>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algn="l"/>
            <a:r>
              <a:rPr lang="en-US" altLang="zh-CN" sz="2400" spc="-150" dirty="0">
                <a:latin typeface="黑体" panose="02010609060101010101" pitchFamily="49" charset="-122"/>
                <a:ea typeface="黑体" panose="02010609060101010101" pitchFamily="49" charset="-122"/>
              </a:rPr>
              <a:t>[1] Xia C S, Deng Y, Dunn S, Zhang L. Agentless: Demystifying LLM-based Software Engineering Agents. </a:t>
            </a:r>
            <a:r>
              <a:rPr lang="en-US" altLang="zh-CN" sz="2400" spc="-150" dirty="0" err="1">
                <a:latin typeface="黑体" panose="02010609060101010101" pitchFamily="49" charset="-122"/>
                <a:ea typeface="黑体" panose="02010609060101010101" pitchFamily="49" charset="-122"/>
              </a:rPr>
              <a:t>arXiv</a:t>
            </a:r>
            <a:r>
              <a:rPr lang="en-US" altLang="zh-CN" sz="2400" spc="-150" dirty="0">
                <a:latin typeface="黑体" panose="02010609060101010101" pitchFamily="49" charset="-122"/>
                <a:ea typeface="黑体" panose="02010609060101010101" pitchFamily="49" charset="-122"/>
              </a:rPr>
              <a:t> preprint, 2024.</a:t>
            </a:r>
            <a:endParaRPr lang="zh-CN" altLang="zh-CN" sz="2400" spc="-150" dirty="0">
              <a:latin typeface="黑体" panose="02010609060101010101" pitchFamily="49" charset="-122"/>
              <a:ea typeface="黑体" panose="02010609060101010101" pitchFamily="49" charset="-122"/>
            </a:endParaRPr>
          </a:p>
          <a:p>
            <a:pPr algn="l"/>
            <a:endParaRPr lang="en-US" altLang="zh-CN" sz="2400" spc="-150" dirty="0">
              <a:latin typeface="黑体" panose="02010609060101010101" pitchFamily="49" charset="-122"/>
              <a:ea typeface="黑体" panose="02010609060101010101" pitchFamily="49" charset="-122"/>
            </a:endParaRPr>
          </a:p>
          <a:p>
            <a:pPr algn="l"/>
            <a:r>
              <a:rPr lang="en-US" altLang="zh-CN" sz="2400" spc="-150" dirty="0">
                <a:latin typeface="黑体" panose="02010609060101010101" pitchFamily="49" charset="-122"/>
                <a:ea typeface="黑体" panose="02010609060101010101" pitchFamily="49" charset="-122"/>
              </a:rPr>
              <a:t>[2] Jimenez C E, Yang J, Wettig A, et al. SWE-bench: Can Language Models Resolve Real-World GitHub Issues? ICLR, 2024.</a:t>
            </a:r>
            <a:endParaRPr lang="zh-CN" altLang="zh-CN" sz="2400" spc="-150" dirty="0">
              <a:latin typeface="黑体" panose="02010609060101010101" pitchFamily="49" charset="-122"/>
              <a:ea typeface="黑体" panose="02010609060101010101" pitchFamily="49" charset="-122"/>
            </a:endParaRPr>
          </a:p>
          <a:p>
            <a:pPr algn="l"/>
            <a:endParaRPr lang="en-US" altLang="zh-CN" sz="2400" spc="-150" dirty="0">
              <a:latin typeface="黑体" panose="02010609060101010101" pitchFamily="49" charset="-122"/>
              <a:ea typeface="黑体" panose="02010609060101010101" pitchFamily="49" charset="-122"/>
            </a:endParaRPr>
          </a:p>
          <a:p>
            <a:pPr algn="l"/>
            <a:r>
              <a:rPr lang="en-US" altLang="zh-CN" sz="2400" spc="-150" dirty="0">
                <a:latin typeface="黑体" panose="02010609060101010101" pitchFamily="49" charset="-122"/>
                <a:ea typeface="黑体" panose="02010609060101010101" pitchFamily="49" charset="-122"/>
              </a:rPr>
              <a:t>[3] Le </a:t>
            </a:r>
            <a:r>
              <a:rPr lang="en-US" altLang="zh-CN" sz="2400" spc="-150" dirty="0" err="1">
                <a:latin typeface="黑体" panose="02010609060101010101" pitchFamily="49" charset="-122"/>
                <a:ea typeface="黑体" panose="02010609060101010101" pitchFamily="49" charset="-122"/>
              </a:rPr>
              <a:t>Goues</a:t>
            </a:r>
            <a:r>
              <a:rPr lang="en-US" altLang="zh-CN" sz="2400" spc="-150" dirty="0">
                <a:latin typeface="黑体" panose="02010609060101010101" pitchFamily="49" charset="-122"/>
                <a:ea typeface="黑体" panose="02010609060101010101" pitchFamily="49" charset="-122"/>
              </a:rPr>
              <a:t> C, Nguyen T, Forrest S, Weimer W. </a:t>
            </a:r>
            <a:r>
              <a:rPr lang="en-US" altLang="zh-CN" sz="2400" spc="-150" dirty="0" err="1">
                <a:latin typeface="黑体" panose="02010609060101010101" pitchFamily="49" charset="-122"/>
                <a:ea typeface="黑体" panose="02010609060101010101" pitchFamily="49" charset="-122"/>
              </a:rPr>
              <a:t>GenProg</a:t>
            </a:r>
            <a:r>
              <a:rPr lang="en-US" altLang="zh-CN" sz="2400" spc="-150" dirty="0">
                <a:latin typeface="黑体" panose="02010609060101010101" pitchFamily="49" charset="-122"/>
                <a:ea typeface="黑体" panose="02010609060101010101" pitchFamily="49" charset="-122"/>
              </a:rPr>
              <a:t>: A Generic Method for Automatic Software Repair. IEEE Transactions on Software Engineering, 2012.</a:t>
            </a:r>
            <a:endParaRPr lang="zh-CN" altLang="zh-CN" sz="2400" spc="-150" dirty="0">
              <a:latin typeface="黑体" panose="02010609060101010101" pitchFamily="49" charset="-122"/>
              <a:ea typeface="黑体" panose="02010609060101010101" pitchFamily="49" charset="-122"/>
            </a:endParaRPr>
          </a:p>
          <a:p>
            <a:pPr algn="l"/>
            <a:endParaRPr lang="en-US" altLang="zh-CN" sz="2400" spc="-150" dirty="0">
              <a:latin typeface="黑体" panose="02010609060101010101" pitchFamily="49" charset="-122"/>
              <a:ea typeface="黑体" panose="02010609060101010101" pitchFamily="49" charset="-122"/>
            </a:endParaRPr>
          </a:p>
          <a:p>
            <a:pPr algn="l"/>
            <a:r>
              <a:rPr lang="en-US" altLang="zh-CN" sz="2400" spc="-150" dirty="0">
                <a:latin typeface="黑体" panose="02010609060101010101" pitchFamily="49" charset="-122"/>
                <a:ea typeface="黑体" panose="02010609060101010101" pitchFamily="49" charset="-122"/>
              </a:rPr>
              <a:t>[4] </a:t>
            </a:r>
            <a:r>
              <a:rPr lang="en-US" altLang="zh-CN" sz="2400" spc="-150" dirty="0" err="1">
                <a:latin typeface="黑体" panose="02010609060101010101" pitchFamily="49" charset="-122"/>
                <a:ea typeface="黑体" panose="02010609060101010101" pitchFamily="49" charset="-122"/>
              </a:rPr>
              <a:t>Monperrus</a:t>
            </a:r>
            <a:r>
              <a:rPr lang="en-US" altLang="zh-CN" sz="2400" spc="-150" dirty="0">
                <a:latin typeface="黑体" panose="02010609060101010101" pitchFamily="49" charset="-122"/>
                <a:ea typeface="黑体" panose="02010609060101010101" pitchFamily="49" charset="-122"/>
              </a:rPr>
              <a:t> M. Automatic Software Repair: A Bibliography. ACM Computing Surveys, 2018.</a:t>
            </a:r>
            <a:endParaRPr lang="zh-CN" altLang="zh-CN" sz="2400" spc="-150" dirty="0">
              <a:latin typeface="黑体" panose="02010609060101010101" pitchFamily="49" charset="-122"/>
              <a:ea typeface="黑体" panose="02010609060101010101" pitchFamily="49" charset="-122"/>
            </a:endParaRPr>
          </a:p>
          <a:p>
            <a:pPr algn="l"/>
            <a:endParaRPr lang="en-US" altLang="zh-CN" sz="2400" spc="-150" dirty="0">
              <a:latin typeface="黑体" panose="02010609060101010101" pitchFamily="49" charset="-122"/>
              <a:ea typeface="黑体" panose="02010609060101010101" pitchFamily="49" charset="-122"/>
            </a:endParaRPr>
          </a:p>
          <a:p>
            <a:pPr algn="l"/>
            <a:r>
              <a:rPr lang="en-US" altLang="zh-CN" sz="2400" spc="-150" dirty="0">
                <a:latin typeface="黑体" panose="02010609060101010101" pitchFamily="49" charset="-122"/>
                <a:ea typeface="黑体" panose="02010609060101010101" pitchFamily="49" charset="-122"/>
              </a:rPr>
              <a:t>[5] OpenAI, DeepSeek </a:t>
            </a:r>
            <a:r>
              <a:rPr lang="zh-CN" altLang="zh-CN" sz="2400" spc="-150" dirty="0">
                <a:latin typeface="黑体" panose="02010609060101010101" pitchFamily="49" charset="-122"/>
                <a:ea typeface="黑体" panose="02010609060101010101" pitchFamily="49" charset="-122"/>
              </a:rPr>
              <a:t>等大语言模型相关技术文档与</a:t>
            </a:r>
            <a:r>
              <a:rPr lang="en-US" altLang="zh-CN" sz="2400" spc="-150" dirty="0">
                <a:latin typeface="黑体" panose="02010609060101010101" pitchFamily="49" charset="-122"/>
                <a:ea typeface="黑体" panose="02010609060101010101" pitchFamily="49" charset="-122"/>
              </a:rPr>
              <a:t> API </a:t>
            </a:r>
            <a:r>
              <a:rPr lang="zh-CN" altLang="zh-CN" sz="2400" spc="-150" dirty="0">
                <a:latin typeface="黑体" panose="02010609060101010101" pitchFamily="49" charset="-122"/>
                <a:ea typeface="黑体" panose="02010609060101010101" pitchFamily="49" charset="-122"/>
              </a:rPr>
              <a:t>说明</a:t>
            </a:r>
            <a:r>
              <a:rPr lang="en-US" altLang="zh-CN" sz="2400" spc="-150" dirty="0">
                <a:latin typeface="黑体" panose="02010609060101010101" pitchFamily="49" charset="-122"/>
                <a:ea typeface="黑体" panose="02010609060101010101" pitchFamily="49" charset="-122"/>
              </a:rPr>
              <a:t>.</a:t>
            </a:r>
            <a:endParaRPr lang="zh-CN" altLang="zh-CN" sz="2400" spc="-150" dirty="0">
              <a:latin typeface="黑体" panose="02010609060101010101" pitchFamily="49" charset="-122"/>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1" u="none" strike="noStrike" kern="1200" cap="none" spc="0" normalizeH="0" baseline="0" noProof="0" dirty="0">
              <a:ln>
                <a:noFill/>
              </a:ln>
              <a:solidFill>
                <a:schemeClr val="tx1">
                  <a:lumMod val="75000"/>
                  <a:lumOff val="25000"/>
                </a:schemeClr>
              </a:solidFill>
              <a:effectLst>
                <a:outerShdw blurRad="63500" sx="102000" sy="102000" algn="ctr" rotWithShape="0">
                  <a:schemeClr val="bg1">
                    <a:alpha val="20000"/>
                  </a:schemeClr>
                </a:outerShdw>
              </a:effectLst>
              <a:uLnTx/>
              <a:uFillTx/>
              <a:latin typeface="黑体" panose="02010609060101010101" pitchFamily="49" charset="-122"/>
              <a:ea typeface="黑体" panose="02010609060101010101" pitchFamily="49" charset="-122"/>
              <a:sym typeface="Arial" panose="020B0604020202020204" pitchFamily="34" charset="0"/>
            </a:endParaRPr>
          </a:p>
        </p:txBody>
      </p:sp>
    </p:spTree>
    <p:extLst>
      <p:ext uri="{BB962C8B-B14F-4D97-AF65-F5344CB8AC3E}">
        <p14:creationId xmlns:p14="http://schemas.microsoft.com/office/powerpoint/2010/main" val="1345901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75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3198599-4FD9-B410-42C9-88A0E6C946EE}"/>
              </a:ext>
            </a:extLst>
          </p:cNvPr>
          <p:cNvGrpSpPr/>
          <p:nvPr/>
        </p:nvGrpSpPr>
        <p:grpSpPr>
          <a:xfrm>
            <a:off x="1767840" y="1710028"/>
            <a:ext cx="8656320" cy="2338886"/>
            <a:chOff x="1767840" y="1759585"/>
            <a:chExt cx="8656320" cy="2338886"/>
          </a:xfrm>
        </p:grpSpPr>
        <p:sp>
          <p:nvSpPr>
            <p:cNvPr id="5" name="文本框 4">
              <a:extLst>
                <a:ext uri="{FF2B5EF4-FFF2-40B4-BE49-F238E27FC236}">
                  <a16:creationId xmlns:a16="http://schemas.microsoft.com/office/drawing/2014/main" id="{1CA86F2E-3D09-4C0A-78BA-CFED4DF55B62}"/>
                </a:ext>
              </a:extLst>
            </p:cNvPr>
            <p:cNvSpPr txBox="1"/>
            <p:nvPr/>
          </p:nvSpPr>
          <p:spPr>
            <a:xfrm>
              <a:off x="1767840" y="3268526"/>
              <a:ext cx="8656320" cy="829945"/>
            </a:xfrm>
            <a:prstGeom prst="rect">
              <a:avLst/>
            </a:prstGeom>
            <a:noFill/>
          </p:spPr>
          <p:txBody>
            <a:bodyPr wrap="square" rtlCol="0">
              <a:spAutoFit/>
            </a:bodyPr>
            <a:lstStyle/>
            <a:p>
              <a:pPr algn="ctr"/>
              <a:r>
                <a:rPr lang="zh-CN" altLang="en-US" sz="4800" b="1" dirty="0">
                  <a:solidFill>
                    <a:schemeClr val="tx1">
                      <a:lumMod val="75000"/>
                      <a:lumOff val="25000"/>
                    </a:schemeClr>
                  </a:solidFill>
                  <a:latin typeface="思源黑体 CN Medium" panose="020B0600000000000000" pitchFamily="34" charset="-122"/>
                  <a:ea typeface="思源黑体 CN Medium" panose="020B0600000000000000" pitchFamily="34" charset="-122"/>
                </a:rPr>
                <a:t>期待您的指正</a:t>
              </a:r>
            </a:p>
          </p:txBody>
        </p:sp>
        <p:sp>
          <p:nvSpPr>
            <p:cNvPr id="6" name="文本框 5">
              <a:extLst>
                <a:ext uri="{FF2B5EF4-FFF2-40B4-BE49-F238E27FC236}">
                  <a16:creationId xmlns:a16="http://schemas.microsoft.com/office/drawing/2014/main" id="{4BBEA159-D04D-535F-B9E1-BF2B966FEAB3}"/>
                </a:ext>
              </a:extLst>
            </p:cNvPr>
            <p:cNvSpPr txBox="1"/>
            <p:nvPr/>
          </p:nvSpPr>
          <p:spPr>
            <a:xfrm>
              <a:off x="3184208" y="1759585"/>
              <a:ext cx="5823585" cy="1198880"/>
            </a:xfrm>
            <a:prstGeom prst="rect">
              <a:avLst/>
            </a:prstGeom>
            <a:noFill/>
          </p:spPr>
          <p:txBody>
            <a:bodyPr wrap="square" rtlCol="0">
              <a:spAutoFit/>
            </a:bodyPr>
            <a:lstStyle/>
            <a:p>
              <a:pPr algn="ctr"/>
              <a:r>
                <a:rPr lang="en-US" altLang="zh-CN" sz="7200" b="1" dirty="0">
                  <a:solidFill>
                    <a:schemeClr val="accent1"/>
                  </a:solidFill>
                  <a:latin typeface="思源黑体 CN Bold" panose="020B0800000000000000" pitchFamily="34" charset="-122"/>
                  <a:ea typeface="思源黑体 CN Bold" panose="020B0800000000000000" pitchFamily="34" charset="-122"/>
                </a:rPr>
                <a:t>THANKS</a:t>
              </a:r>
            </a:p>
          </p:txBody>
        </p:sp>
        <p:grpSp>
          <p:nvGrpSpPr>
            <p:cNvPr id="7" name="组合 6">
              <a:extLst>
                <a:ext uri="{FF2B5EF4-FFF2-40B4-BE49-F238E27FC236}">
                  <a16:creationId xmlns:a16="http://schemas.microsoft.com/office/drawing/2014/main" id="{106FDE65-3714-CBF7-991E-4216DD520B20}"/>
                </a:ext>
              </a:extLst>
            </p:cNvPr>
            <p:cNvGrpSpPr/>
            <p:nvPr/>
          </p:nvGrpSpPr>
          <p:grpSpPr>
            <a:xfrm>
              <a:off x="3209608" y="3052445"/>
              <a:ext cx="5772785" cy="76200"/>
              <a:chOff x="4998" y="4189"/>
              <a:chExt cx="9091" cy="120"/>
            </a:xfrm>
          </p:grpSpPr>
          <p:sp>
            <p:nvSpPr>
              <p:cNvPr id="9" name="矩形 8">
                <a:extLst>
                  <a:ext uri="{FF2B5EF4-FFF2-40B4-BE49-F238E27FC236}">
                    <a16:creationId xmlns:a16="http://schemas.microsoft.com/office/drawing/2014/main" id="{06D6D735-8E90-D822-86A3-2EE27C72D28A}"/>
                  </a:ext>
                </a:extLst>
              </p:cNvPr>
              <p:cNvSpPr/>
              <p:nvPr/>
            </p:nvSpPr>
            <p:spPr>
              <a:xfrm flipV="1">
                <a:off x="8347" y="4189"/>
                <a:ext cx="2394" cy="12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endParaRPr>
              </a:p>
            </p:txBody>
          </p:sp>
          <p:cxnSp>
            <p:nvCxnSpPr>
              <p:cNvPr id="10" name="直接连接符 9">
                <a:extLst>
                  <a:ext uri="{FF2B5EF4-FFF2-40B4-BE49-F238E27FC236}">
                    <a16:creationId xmlns:a16="http://schemas.microsoft.com/office/drawing/2014/main" id="{8DBA0E52-DFA0-4533-77EA-15FBE7EA0DE3}"/>
                  </a:ext>
                </a:extLst>
              </p:cNvPr>
              <p:cNvCxnSpPr/>
              <p:nvPr/>
            </p:nvCxnSpPr>
            <p:spPr>
              <a:xfrm>
                <a:off x="11221" y="4249"/>
                <a:ext cx="286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66E01AE-6858-5D2B-343F-6AA20C289CDF}"/>
                  </a:ext>
                </a:extLst>
              </p:cNvPr>
              <p:cNvCxnSpPr/>
              <p:nvPr/>
            </p:nvCxnSpPr>
            <p:spPr>
              <a:xfrm>
                <a:off x="4998" y="4249"/>
                <a:ext cx="2869"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1478</Words>
  <Application>Microsoft Office PowerPoint</Application>
  <PresentationFormat>宽屏</PresentationFormat>
  <Paragraphs>98</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14</vt:i4>
      </vt:variant>
    </vt:vector>
  </HeadingPairs>
  <TitlesOfParts>
    <vt:vector size="25" baseType="lpstr">
      <vt:lpstr>思源黑体 CN Bold</vt:lpstr>
      <vt:lpstr>思源黑体 CN Medium</vt:lpstr>
      <vt:lpstr>微软雅黑</vt:lpstr>
      <vt:lpstr>Lato Bold</vt:lpstr>
      <vt:lpstr>等线</vt:lpstr>
      <vt:lpstr>Lato</vt:lpstr>
      <vt:lpstr>黑体</vt:lpstr>
      <vt:lpstr>Arial</vt:lpstr>
      <vt:lpstr>等线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tsing wei</cp:lastModifiedBy>
  <cp:revision>8</cp:revision>
  <dcterms:created xsi:type="dcterms:W3CDTF">2020-02-28T09:13:00Z</dcterms:created>
  <dcterms:modified xsi:type="dcterms:W3CDTF">2026-06-28T15:10:35Z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KSOTemplateUUID">
    <vt:lpwstr>v1.0_mb_pQzIEODkE5dyNjgFDpJPHw==</vt:lpwstr>
  </property>
  <property fmtid="{D5CDD505-2E9C-101B-9397-08002B2CF9AE}" pid="4" name="ICV">
    <vt:lpwstr>C17405A2337144CE9733CFCA2061B35D_11</vt:lpwstr>
  </property>
</Properties>
</file>