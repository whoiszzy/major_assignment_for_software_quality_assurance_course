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Instrument Serif" panose="02010600030101010101" charset="0"/>
      <p:regular r:id="rId16"/>
    </p:embeddedFont>
    <p:embeddedFont>
      <p:font typeface="Inter" panose="02010600030101010101" charset="0"/>
      <p:regular r:id="rId17"/>
    </p:embeddedFont>
    <p:embeddedFont>
      <p:font typeface="Inter Bold" panose="02010600030101010101" charset="0"/>
      <p:regular r:id="rId18"/>
    </p:embeddedFont>
  </p:embeddedFontLst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86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DA0D3-274A-37A5-8C90-A32E85F0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9A10F-15F0-57BA-11B5-52DA6C712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D5304-AC24-086C-0C5C-DC58E6A32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21C4A-5C56-32F6-6980-91975DD3C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89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BF38-3127-5DE7-1713-50A8A14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CD1EE-F5D2-E3C6-E446-A70C77E79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D96B3-F847-94FE-9027-2D1EDE0E5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08008-0DB8-DD4A-57F2-EBF879601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33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E47B-F5DC-976F-AA73-89FB985C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D7790-AA8B-68C3-1107-9EBB83251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A2F36-BDA5-D31D-F947-C59755F9D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24095-8B87-9906-CF27-68546F5EF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11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5403-6F23-0A4F-74BA-A5E69BFA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48EEB-4953-CE4B-F24B-0D766BA8C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21DD5-C520-9283-90CB-E2D2EC758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34E19-8BE2-11B1-6C29-2451248EA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90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0484-4EEC-BBCF-E866-7324A298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0BB5A-95CA-422B-247D-3F344015E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29988-A398-B992-AC6F-0C37A2CDA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BE401-8EF1-4E40-FEF7-C7FE5FA07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86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12A0E-8554-3BD8-4986-6EE1DE52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8D7BE-371B-2B1A-ABEE-41D654D12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2812B-BEC2-72CC-C9DA-49B5B53EB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CC57F-0432-40B7-8CC6-624D737F0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1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945356"/>
            <a:ext cx="986904" cy="240804"/>
          </a:xfrm>
          <a:prstGeom prst="roundRect">
            <a:avLst>
              <a:gd name="adj" fmla="val 49200"/>
            </a:avLst>
          </a:prstGeom>
          <a:noFill/>
          <a:ln/>
          <a:effectLst>
            <a:outerShdw blurRad="101600" dist="50800" dir="16200000" algn="bl" rotWithShape="0">
              <a:srgbClr val="040404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18534" y="994668"/>
            <a:ext cx="1399049" cy="142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软件质量保障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719814" y="1334195"/>
            <a:ext cx="656563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9814" y="1643459"/>
            <a:ext cx="5956052" cy="2804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735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基于 BERT 的文本</a:t>
            </a:r>
            <a:r>
              <a:rPr lang="zh-CN" altLang="en-US" sz="73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</a:t>
            </a:r>
            <a:r>
              <a:rPr lang="zh-CN" altLang="en-US" sz="735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对抗攻击与鲁棒性分析</a:t>
            </a:r>
            <a:endParaRPr lang="zh-CN" sz="7350" dirty="0"/>
          </a:p>
        </p:txBody>
      </p:sp>
      <p:sp>
        <p:nvSpPr>
          <p:cNvPr id="6" name="Text 4"/>
          <p:cNvSpPr/>
          <p:nvPr/>
        </p:nvSpPr>
        <p:spPr>
          <a:xfrm>
            <a:off x="719814" y="4579838"/>
            <a:ext cx="5956052" cy="1362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Aft>
                <a:spcPts val="2300"/>
              </a:spcAft>
              <a:buNone/>
            </a:pPr>
            <a:endParaRPr lang="en-US" sz="1250" dirty="0"/>
          </a:p>
          <a:p>
            <a:pPr marL="0" indent="0" algn="l">
              <a:lnSpc>
                <a:spcPct val="90000"/>
              </a:lnSpc>
              <a:spcAft>
                <a:spcPts val="2300"/>
              </a:spcAft>
              <a:buNone/>
            </a:pPr>
            <a:endParaRPr lang="en-US" sz="1250" dirty="0"/>
          </a:p>
          <a:p>
            <a:pPr marL="0" indent="0" algn="l">
              <a:lnSpc>
                <a:spcPct val="90000"/>
              </a:lnSpc>
              <a:spcAft>
                <a:spcPts val="2300"/>
              </a:spcAft>
              <a:buNone/>
            </a:pPr>
            <a:endParaRPr lang="en-US" sz="1250" dirty="0"/>
          </a:p>
          <a:p>
            <a:pPr marL="0" indent="0" algn="l">
              <a:lnSpc>
                <a:spcPct val="90000"/>
              </a:lnSpc>
              <a:spcAft>
                <a:spcPts val="900"/>
              </a:spcAft>
              <a:buNone/>
            </a:pPr>
            <a:r>
              <a:rPr lang="zh-CN" altLang="en-US" sz="1250" dirty="0">
                <a:solidFill>
                  <a:srgbClr val="787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《软件质量保障》课程大作业 · 2026年6月</a:t>
            </a:r>
            <a:endParaRPr lang="en-US" sz="1250" dirty="0"/>
          </a:p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787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杨蕊竹、姚昕煜、徐梦茹、陆鹏宇、井立帅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65180" y="797322"/>
            <a:ext cx="4631415" cy="5263356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129681" y="945356"/>
            <a:ext cx="4302414" cy="1049734"/>
          </a:xfrm>
          <a:prstGeom prst="roundRect">
            <a:avLst>
              <a:gd name="adj" fmla="val 14108"/>
            </a:avLst>
          </a:prstGeom>
          <a:solidFill>
            <a:srgbClr val="F3FF99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94182" y="1109861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攻击复现</a:t>
            </a:r>
            <a:endParaRPr lang="zh-CN" sz="1800" dirty="0"/>
          </a:p>
        </p:txBody>
      </p:sp>
      <p:sp>
        <p:nvSpPr>
          <p:cNvPr id="10" name="Text 8"/>
          <p:cNvSpPr/>
          <p:nvPr/>
        </p:nvSpPr>
        <p:spPr>
          <a:xfrm>
            <a:off x="7294182" y="1475184"/>
            <a:ext cx="397341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复现 TextFooler 与 BERT-Attack 两种经典黑盒对抗攻击方法，在 IMDB 数据集上验证结果。</a:t>
            </a:r>
            <a:endParaRPr lang="zh-CN" sz="1250" dirty="0"/>
          </a:p>
        </p:txBody>
      </p:sp>
      <p:sp>
        <p:nvSpPr>
          <p:cNvPr id="11" name="Shape 9"/>
          <p:cNvSpPr/>
          <p:nvPr/>
        </p:nvSpPr>
        <p:spPr>
          <a:xfrm>
            <a:off x="7129681" y="2126655"/>
            <a:ext cx="4302414" cy="1049734"/>
          </a:xfrm>
          <a:prstGeom prst="roundRect">
            <a:avLst>
              <a:gd name="adj" fmla="val 14108"/>
            </a:avLst>
          </a:prstGeom>
          <a:solidFill>
            <a:srgbClr val="D1F5FB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94182" y="2291159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改进方法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294182" y="2656483"/>
            <a:ext cx="397341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提出 SC-BERT-Attack，结合词向量语义过滤机制，提升攻击自然性与效率。</a:t>
            </a:r>
            <a:endParaRPr lang="zh-CN" sz="1250" dirty="0"/>
          </a:p>
        </p:txBody>
      </p:sp>
      <p:sp>
        <p:nvSpPr>
          <p:cNvPr id="14" name="Shape 12"/>
          <p:cNvSpPr/>
          <p:nvPr/>
        </p:nvSpPr>
        <p:spPr>
          <a:xfrm>
            <a:off x="7129681" y="3307953"/>
            <a:ext cx="4302414" cy="1049734"/>
          </a:xfrm>
          <a:prstGeom prst="roundRect">
            <a:avLst>
              <a:gd name="adj" fmla="val 14108"/>
            </a:avLst>
          </a:prstGeom>
          <a:solidFill>
            <a:srgbClr val="EEDFFC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94182" y="3472458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防御验证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7294182" y="3837781"/>
            <a:ext cx="397341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通过对抗训练验证防御效果，分析三种攻击方法在防御前后的攻击成功率变化。</a:t>
            </a:r>
            <a:endParaRPr lang="zh-CN" sz="125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4CFD7D-13BB-0014-E62C-6C6B2E987FD3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27571"/>
            <a:ext cx="4674674" cy="93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6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研究内容概览</a:t>
            </a:r>
            <a:endParaRPr lang="zh-CN" sz="3650" dirty="0"/>
          </a:p>
          <a:p>
            <a:pPr marL="0" indent="0" algn="l">
              <a:lnSpc>
                <a:spcPct val="83000"/>
              </a:lnSpc>
              <a:buNone/>
            </a:pPr>
            <a:r>
              <a:rPr lang="zh-CN" altLang="en-US" sz="365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Content Overview</a:t>
            </a:r>
            <a:endParaRPr lang="zh-CN" sz="3650" dirty="0"/>
          </a:p>
        </p:txBody>
      </p:sp>
      <p:sp>
        <p:nvSpPr>
          <p:cNvPr id="3" name="Shape 1"/>
          <p:cNvSpPr/>
          <p:nvPr/>
        </p:nvSpPr>
        <p:spPr>
          <a:xfrm>
            <a:off x="601350" y="1860054"/>
            <a:ext cx="5412247" cy="4270375"/>
          </a:xfrm>
          <a:prstGeom prst="roundRect">
            <a:avLst>
              <a:gd name="adj" fmla="val 5549"/>
            </a:avLst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765850" y="1991618"/>
            <a:ext cx="341432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研究主线</a:t>
            </a:r>
            <a:endParaRPr lang="zh-CN" sz="2200" dirty="0"/>
          </a:p>
        </p:txBody>
      </p:sp>
      <p:sp>
        <p:nvSpPr>
          <p:cNvPr id="5" name="Shape 3"/>
          <p:cNvSpPr/>
          <p:nvPr/>
        </p:nvSpPr>
        <p:spPr>
          <a:xfrm>
            <a:off x="765850" y="2502396"/>
            <a:ext cx="3737576" cy="205680"/>
          </a:xfrm>
          <a:prstGeom prst="roundRect">
            <a:avLst>
              <a:gd name="adj" fmla="val 72003"/>
            </a:avLst>
          </a:prstGeom>
          <a:solidFill>
            <a:srgbClr val="000000"/>
          </a:solidFill>
          <a:ln/>
          <a:effectLst>
            <a:outerShdw blurRad="246380" dist="50800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5850" y="2502396"/>
            <a:ext cx="74710" cy="205680"/>
          </a:xfrm>
          <a:prstGeom prst="roundRect">
            <a:avLst>
              <a:gd name="adj" fmla="val 198227"/>
            </a:avLst>
          </a:prstGeom>
          <a:solidFill>
            <a:srgbClr val="F3FF99"/>
          </a:solidFill>
          <a:ln/>
        </p:spPr>
      </p:sp>
      <p:sp>
        <p:nvSpPr>
          <p:cNvPr id="7" name="Text 5"/>
          <p:cNvSpPr/>
          <p:nvPr/>
        </p:nvSpPr>
        <p:spPr>
          <a:xfrm>
            <a:off x="4626752" y="2502396"/>
            <a:ext cx="20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5850" y="2889052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经典攻击方法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765850" y="3254375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TextFooler &amp; BERT-Attack 复现实验</a:t>
            </a:r>
            <a:endParaRPr lang="zh-CN" sz="1250" dirty="0"/>
          </a:p>
        </p:txBody>
      </p:sp>
      <p:sp>
        <p:nvSpPr>
          <p:cNvPr id="10" name="Shape 8"/>
          <p:cNvSpPr/>
          <p:nvPr/>
        </p:nvSpPr>
        <p:spPr>
          <a:xfrm>
            <a:off x="765850" y="3777555"/>
            <a:ext cx="3737576" cy="205680"/>
          </a:xfrm>
          <a:prstGeom prst="roundRect">
            <a:avLst>
              <a:gd name="adj" fmla="val 72003"/>
            </a:avLst>
          </a:prstGeom>
          <a:solidFill>
            <a:srgbClr val="000000"/>
          </a:solidFill>
          <a:ln/>
          <a:effectLst>
            <a:outerShdw blurRad="246380" dist="50800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5850" y="3777555"/>
            <a:ext cx="37305" cy="205680"/>
          </a:xfrm>
          <a:prstGeom prst="roundRect">
            <a:avLst>
              <a:gd name="adj" fmla="val 396986"/>
            </a:avLst>
          </a:prstGeom>
          <a:solidFill>
            <a:srgbClr val="FFE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752" y="3777555"/>
            <a:ext cx="20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5850" y="4164211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改进攻击策略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765850" y="4529534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SC-BERT-Attack 方法设计</a:t>
            </a:r>
            <a:endParaRPr lang="zh-CN" sz="1250" dirty="0"/>
          </a:p>
        </p:txBody>
      </p:sp>
      <p:sp>
        <p:nvSpPr>
          <p:cNvPr id="15" name="Shape 13"/>
          <p:cNvSpPr/>
          <p:nvPr/>
        </p:nvSpPr>
        <p:spPr>
          <a:xfrm>
            <a:off x="765850" y="5052715"/>
            <a:ext cx="3737576" cy="205680"/>
          </a:xfrm>
          <a:prstGeom prst="roundRect">
            <a:avLst>
              <a:gd name="adj" fmla="val 72003"/>
            </a:avLst>
          </a:prstGeom>
          <a:solidFill>
            <a:srgbClr val="000000"/>
          </a:solidFill>
          <a:ln/>
          <a:effectLst>
            <a:outerShdw blurRad="246380" dist="50800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5850" y="5052715"/>
            <a:ext cx="37305" cy="205680"/>
          </a:xfrm>
          <a:prstGeom prst="roundRect">
            <a:avLst>
              <a:gd name="adj" fmla="val 396986"/>
            </a:avLst>
          </a:prstGeom>
          <a:solidFill>
            <a:srgbClr val="D1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752" y="5052715"/>
            <a:ext cx="20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5850" y="5439370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对抗防御验证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765850" y="5804694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对抗训练与综合对比分析</a:t>
            </a:r>
            <a:endParaRPr lang="zh-CN" sz="1250" dirty="0"/>
          </a:p>
        </p:txBody>
      </p:sp>
      <p:sp>
        <p:nvSpPr>
          <p:cNvPr id="20" name="Shape 18"/>
          <p:cNvSpPr/>
          <p:nvPr/>
        </p:nvSpPr>
        <p:spPr>
          <a:xfrm>
            <a:off x="6184448" y="1860054"/>
            <a:ext cx="5412247" cy="4270375"/>
          </a:xfrm>
          <a:prstGeom prst="roundRect">
            <a:avLst>
              <a:gd name="adj" fmla="val 554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48948" y="1991618"/>
            <a:ext cx="341432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章节安排</a:t>
            </a:r>
            <a:endParaRPr lang="zh-CN" sz="2200" dirty="0"/>
          </a:p>
        </p:txBody>
      </p:sp>
      <p:sp>
        <p:nvSpPr>
          <p:cNvPr id="22" name="Text 20"/>
          <p:cNvSpPr/>
          <p:nvPr/>
        </p:nvSpPr>
        <p:spPr>
          <a:xfrm>
            <a:off x="6348948" y="2403673"/>
            <a:ext cx="569283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本报告完整呈现研究过程与成果：</a:t>
            </a:r>
            <a:endParaRPr lang="zh-CN" sz="1250" dirty="0"/>
          </a:p>
        </p:txBody>
      </p:sp>
      <p:sp>
        <p:nvSpPr>
          <p:cNvPr id="23" name="Shape 21"/>
          <p:cNvSpPr/>
          <p:nvPr/>
        </p:nvSpPr>
        <p:spPr>
          <a:xfrm>
            <a:off x="8881047" y="2729409"/>
            <a:ext cx="19050" cy="3151088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30932" y="2904927"/>
            <a:ext cx="493601" cy="19050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25" name="Shape 23"/>
          <p:cNvSpPr/>
          <p:nvPr/>
        </p:nvSpPr>
        <p:spPr>
          <a:xfrm>
            <a:off x="8705483" y="2729409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50329" y="2774255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48948" y="2811661"/>
            <a:ext cx="171892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zh-CN" altLang="en-US" sz="18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背景与动机：</a:t>
            </a:r>
            <a:r>
              <a:rPr lang="zh-CN" altLang="en-US" sz="18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预训练模型脆弱性问题与研究价值</a:t>
            </a:r>
            <a:endParaRPr lang="zh-CN" sz="1800" dirty="0"/>
          </a:p>
        </p:txBody>
      </p:sp>
      <p:sp>
        <p:nvSpPr>
          <p:cNvPr id="28" name="Shape 26"/>
          <p:cNvSpPr/>
          <p:nvPr/>
        </p:nvSpPr>
        <p:spPr>
          <a:xfrm>
            <a:off x="9056610" y="3826371"/>
            <a:ext cx="493601" cy="19050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8705483" y="3650853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50329" y="3695700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13273" y="3733105"/>
            <a:ext cx="171892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相关工作：</a:t>
            </a:r>
            <a:r>
              <a:rPr lang="zh-CN" altLang="en-US" sz="18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 与 BERT-Attack 方法介绍</a:t>
            </a:r>
            <a:endParaRPr lang="zh-CN" sz="1800" dirty="0"/>
          </a:p>
        </p:txBody>
      </p:sp>
      <p:sp>
        <p:nvSpPr>
          <p:cNvPr id="32" name="Shape 30"/>
          <p:cNvSpPr/>
          <p:nvPr/>
        </p:nvSpPr>
        <p:spPr>
          <a:xfrm>
            <a:off x="8230932" y="4657328"/>
            <a:ext cx="493601" cy="19050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705483" y="4481810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750329" y="4526657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48948" y="4564062"/>
            <a:ext cx="171892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zh-CN" altLang="en-US" sz="18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实验与分析：</a:t>
            </a:r>
            <a:r>
              <a:rPr lang="zh-CN" altLang="en-US" sz="18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复现、改进、防御及综合对比</a:t>
            </a:r>
            <a:endParaRPr lang="zh-CN" sz="18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10B842-0D65-FD76-DFB0-3E319B29B3B6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54187"/>
            <a:ext cx="645292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4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研究背景与动机</a:t>
            </a:r>
            <a:endParaRPr lang="zh-CN" sz="4600" dirty="0"/>
          </a:p>
        </p:txBody>
      </p:sp>
      <p:sp>
        <p:nvSpPr>
          <p:cNvPr id="3" name="Text 1"/>
          <p:cNvSpPr/>
          <p:nvPr/>
        </p:nvSpPr>
        <p:spPr>
          <a:xfrm>
            <a:off x="719814" y="1949946"/>
            <a:ext cx="10752067" cy="9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1800"/>
              </a:spcAft>
              <a:buNone/>
            </a:pPr>
            <a:r>
              <a:rPr lang="zh-CN" altLang="en-US" sz="16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等预训练语言模型在 NLP 任务中表现优异，但在对抗样本面前极为脆弱——只需对输入文本做微小的词替换，就能让模型预测错误，且人类几乎察觉不到改动。</a:t>
            </a:r>
            <a:endParaRPr lang="zh-CN" sz="1600" dirty="0"/>
          </a:p>
        </p:txBody>
      </p:sp>
      <p:sp>
        <p:nvSpPr>
          <p:cNvPr id="4" name="Shape 2"/>
          <p:cNvSpPr/>
          <p:nvPr/>
        </p:nvSpPr>
        <p:spPr>
          <a:xfrm>
            <a:off x="719814" y="3152973"/>
            <a:ext cx="5273146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889" y="338405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安全风险</a:t>
            </a:r>
            <a:endParaRPr lang="zh-CN" sz="2300" dirty="0"/>
          </a:p>
        </p:txBody>
      </p:sp>
      <p:sp>
        <p:nvSpPr>
          <p:cNvPr id="6" name="Text 4"/>
          <p:cNvSpPr/>
          <p:nvPr/>
        </p:nvSpPr>
        <p:spPr>
          <a:xfrm>
            <a:off x="950889" y="3799582"/>
            <a:ext cx="481099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垃圾邮件过滤、内容审核等实际系统面临对抗攻击威胁。现有部署模型在受控环境下表现良好，但在真实对抗场景中存在重大隐患。</a:t>
            </a:r>
            <a:endParaRPr lang="zh-CN" sz="1250" dirty="0"/>
          </a:p>
        </p:txBody>
      </p:sp>
      <p:sp>
        <p:nvSpPr>
          <p:cNvPr id="7" name="Shape 5"/>
          <p:cNvSpPr/>
          <p:nvPr/>
        </p:nvSpPr>
        <p:spPr>
          <a:xfrm>
            <a:off x="6198636" y="3152973"/>
            <a:ext cx="5273245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9710" y="338405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可靠性需求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6429710" y="3799582"/>
            <a:ext cx="4811096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模型在真实场景中需要具备抗干扰能力，单纯追求干净数据上的高准确率不足以保证系统可靠性，鲁棒性评估不可或缺。</a:t>
            </a:r>
            <a:endParaRPr lang="zh-CN" sz="1250" dirty="0"/>
          </a:p>
        </p:txBody>
      </p:sp>
      <p:sp>
        <p:nvSpPr>
          <p:cNvPr id="10" name="Shape 8"/>
          <p:cNvSpPr/>
          <p:nvPr/>
        </p:nvSpPr>
        <p:spPr>
          <a:xfrm>
            <a:off x="719814" y="4631234"/>
            <a:ext cx="5273146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889" y="486231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研究价值</a:t>
            </a:r>
            <a:endParaRPr lang="zh-CN" sz="2300" dirty="0"/>
          </a:p>
        </p:txBody>
      </p:sp>
      <p:sp>
        <p:nvSpPr>
          <p:cNvPr id="12" name="Text 10"/>
          <p:cNvSpPr/>
          <p:nvPr/>
        </p:nvSpPr>
        <p:spPr>
          <a:xfrm>
            <a:off x="950889" y="5277842"/>
            <a:ext cx="481099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揭示模型脆弱性，推动更鲁棒的模型设计。通过系统性的攻击复现与防御实验，为社区提供方法基准与改进思路。</a:t>
            </a:r>
            <a:endParaRPr lang="zh-CN" sz="1250" dirty="0"/>
          </a:p>
        </p:txBody>
      </p:sp>
      <p:sp>
        <p:nvSpPr>
          <p:cNvPr id="13" name="Shape 11"/>
          <p:cNvSpPr/>
          <p:nvPr/>
        </p:nvSpPr>
        <p:spPr>
          <a:xfrm>
            <a:off x="6198636" y="4631234"/>
            <a:ext cx="5273245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9710" y="486231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🎯</a:t>
            </a: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本研究目标</a:t>
            </a:r>
            <a:endParaRPr lang="zh-CN" sz="2300" dirty="0"/>
          </a:p>
        </p:txBody>
      </p:sp>
      <p:sp>
        <p:nvSpPr>
          <p:cNvPr id="15" name="Text 13"/>
          <p:cNvSpPr/>
          <p:nvPr/>
        </p:nvSpPr>
        <p:spPr>
          <a:xfrm>
            <a:off x="6429710" y="5277842"/>
            <a:ext cx="4811096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 BERT-IMDB 情感分类模型为目标，复现经典黑盒对抗攻击方法，提出改进攻击策略，并通过对抗训练验证防御效果。</a:t>
            </a:r>
            <a:endParaRPr lang="zh-CN" sz="125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278042-3E27-3E09-B8BA-966951C28723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9820"/>
            <a:ext cx="3798197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相关工作简介</a:t>
            </a:r>
            <a:endParaRPr lang="zh-CN" sz="2950" dirty="0"/>
          </a:p>
        </p:txBody>
      </p:sp>
      <p:sp>
        <p:nvSpPr>
          <p:cNvPr id="3" name="Text 1"/>
          <p:cNvSpPr/>
          <p:nvPr/>
        </p:nvSpPr>
        <p:spPr>
          <a:xfrm>
            <a:off x="719814" y="1414165"/>
            <a:ext cx="2888483" cy="227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19814" y="1772345"/>
            <a:ext cx="11361652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i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 et al., AAAI 2020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002433"/>
            <a:ext cx="2622881" cy="8121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706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攻击方式</a:t>
            </a:r>
            <a:endParaRPr lang="zh-CN" sz="1450" dirty="0"/>
          </a:p>
        </p:txBody>
      </p:sp>
      <p:sp>
        <p:nvSpPr>
          <p:cNvPr id="7" name="Text 4"/>
          <p:cNvSpPr/>
          <p:nvPr/>
        </p:nvSpPr>
        <p:spPr>
          <a:xfrm>
            <a:off x="948706" y="2397125"/>
            <a:ext cx="22412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黑盒词替换攻击</a:t>
            </a:r>
            <a:endParaRPr lang="zh-CN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510" y="2002433"/>
            <a:ext cx="2622881" cy="8121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8401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词重要性排序</a:t>
            </a:r>
            <a:endParaRPr lang="zh-CN" sz="1450" dirty="0"/>
          </a:p>
        </p:txBody>
      </p:sp>
      <p:sp>
        <p:nvSpPr>
          <p:cNvPr id="10" name="Text 6"/>
          <p:cNvSpPr/>
          <p:nvPr/>
        </p:nvSpPr>
        <p:spPr>
          <a:xfrm>
            <a:off x="3658401" y="2397125"/>
            <a:ext cx="22412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（Word Importance Ranking）筛选关键词</a:t>
            </a:r>
            <a:endParaRPr lang="zh-CN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9205" y="2002433"/>
            <a:ext cx="2622881" cy="8121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68097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替换候选</a:t>
            </a:r>
            <a:endParaRPr lang="zh-CN" sz="1450" dirty="0"/>
          </a:p>
        </p:txBody>
      </p:sp>
      <p:sp>
        <p:nvSpPr>
          <p:cNvPr id="13" name="Text 8"/>
          <p:cNvSpPr/>
          <p:nvPr/>
        </p:nvSpPr>
        <p:spPr>
          <a:xfrm>
            <a:off x="6368097" y="2397125"/>
            <a:ext cx="22412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从同义词词典中寻找语义相似替换词</a:t>
            </a:r>
            <a:endParaRPr lang="zh-CN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8901" y="2002433"/>
            <a:ext cx="2622980" cy="8121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77792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约束条件</a:t>
            </a:r>
            <a:endParaRPr lang="zh-CN" sz="1450" dirty="0"/>
          </a:p>
        </p:txBody>
      </p:sp>
      <p:sp>
        <p:nvSpPr>
          <p:cNvPr id="16" name="Text 10"/>
          <p:cNvSpPr/>
          <p:nvPr/>
        </p:nvSpPr>
        <p:spPr>
          <a:xfrm>
            <a:off x="9077792" y="2397125"/>
            <a:ext cx="22413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满足语法与语义相似度约束（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≥ 0.84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）</a:t>
            </a:r>
            <a:endParaRPr lang="zh-CN" sz="1050" dirty="0"/>
          </a:p>
        </p:txBody>
      </p:sp>
      <p:sp>
        <p:nvSpPr>
          <p:cNvPr id="17" name="Shape 11"/>
          <p:cNvSpPr/>
          <p:nvPr/>
        </p:nvSpPr>
        <p:spPr>
          <a:xfrm>
            <a:off x="719814" y="2912269"/>
            <a:ext cx="10752067" cy="364034"/>
          </a:xfrm>
          <a:prstGeom prst="roundRect">
            <a:avLst>
              <a:gd name="adj" fmla="val 33054"/>
            </a:avLst>
          </a:prstGeom>
          <a:solidFill>
            <a:srgbClr val="EFEFE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58" y="3079254"/>
            <a:ext cx="167080" cy="1336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54183" y="3032423"/>
            <a:ext cx="10793639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论文报告 ASR ≈ </a:t>
            </a:r>
            <a:r>
              <a:rPr lang="zh-CN" alt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87%</a:t>
            </a: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（BERT-IMDB）</a:t>
            </a:r>
            <a:endParaRPr lang="zh-CN" sz="1050" dirty="0"/>
          </a:p>
        </p:txBody>
      </p:sp>
      <p:sp>
        <p:nvSpPr>
          <p:cNvPr id="20" name="Text 13"/>
          <p:cNvSpPr/>
          <p:nvPr/>
        </p:nvSpPr>
        <p:spPr>
          <a:xfrm>
            <a:off x="719814" y="3406577"/>
            <a:ext cx="2888483" cy="227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BERT-Attack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719814" y="3764756"/>
            <a:ext cx="11361652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i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 et al., EMNLP 2020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994845"/>
            <a:ext cx="2622881" cy="81210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8706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攻击方式</a:t>
            </a:r>
            <a:endParaRPr lang="zh-CN" sz="1450" dirty="0"/>
          </a:p>
        </p:txBody>
      </p:sp>
      <p:sp>
        <p:nvSpPr>
          <p:cNvPr id="24" name="Text 16"/>
          <p:cNvSpPr/>
          <p:nvPr/>
        </p:nvSpPr>
        <p:spPr>
          <a:xfrm>
            <a:off x="948706" y="4389537"/>
            <a:ext cx="22412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黑盒词替换攻击，同样基于 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排序</a:t>
            </a:r>
            <a:endParaRPr lang="zh-CN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510" y="3994845"/>
            <a:ext cx="2622881" cy="81210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58401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替换候选</a:t>
            </a:r>
            <a:endParaRPr lang="zh-CN" sz="1450" dirty="0"/>
          </a:p>
        </p:txBody>
      </p:sp>
      <p:sp>
        <p:nvSpPr>
          <p:cNvPr id="27" name="Text 18"/>
          <p:cNvSpPr/>
          <p:nvPr/>
        </p:nvSpPr>
        <p:spPr>
          <a:xfrm>
            <a:off x="3658401" y="4389537"/>
            <a:ext cx="22412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BERT-MLM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（掩码语言模型）生成上下文感知替换词</a:t>
            </a:r>
            <a:endParaRPr lang="zh-CN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9205" y="3994845"/>
            <a:ext cx="2622881" cy="81210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368097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更难检测</a:t>
            </a:r>
            <a:endParaRPr lang="zh-CN" sz="1450" dirty="0"/>
          </a:p>
        </p:txBody>
      </p:sp>
      <p:sp>
        <p:nvSpPr>
          <p:cNvPr id="30" name="Text 20"/>
          <p:cNvSpPr/>
          <p:nvPr/>
        </p:nvSpPr>
        <p:spPr>
          <a:xfrm>
            <a:off x="6368097" y="4389537"/>
            <a:ext cx="22412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生成替换词更自然，难以被人工或模型识别</a:t>
            </a:r>
            <a:endParaRPr lang="zh-CN" sz="10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8901" y="3994845"/>
            <a:ext cx="2622980" cy="81210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077792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效果更强</a:t>
            </a:r>
            <a:endParaRPr lang="zh-CN" sz="1450" dirty="0"/>
          </a:p>
        </p:txBody>
      </p:sp>
      <p:sp>
        <p:nvSpPr>
          <p:cNvPr id="33" name="Text 22"/>
          <p:cNvSpPr/>
          <p:nvPr/>
        </p:nvSpPr>
        <p:spPr>
          <a:xfrm>
            <a:off x="9077792" y="4389537"/>
            <a:ext cx="22413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上下文感知使攻击成功率进一步提升</a:t>
            </a:r>
            <a:endParaRPr lang="zh-CN" sz="1050" dirty="0"/>
          </a:p>
        </p:txBody>
      </p:sp>
      <p:sp>
        <p:nvSpPr>
          <p:cNvPr id="34" name="Shape 23"/>
          <p:cNvSpPr/>
          <p:nvPr/>
        </p:nvSpPr>
        <p:spPr>
          <a:xfrm>
            <a:off x="719814" y="4904680"/>
            <a:ext cx="10752067" cy="364034"/>
          </a:xfrm>
          <a:prstGeom prst="roundRect">
            <a:avLst>
              <a:gd name="adj" fmla="val 33054"/>
            </a:avLst>
          </a:prstGeom>
          <a:solidFill>
            <a:srgbClr val="EFEFEF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58" y="5071666"/>
            <a:ext cx="167080" cy="13364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154183" y="5024834"/>
            <a:ext cx="10793639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论文报告 ASR &gt; </a:t>
            </a:r>
            <a:r>
              <a:rPr lang="zh-CN" alt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90%</a:t>
            </a: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（BERT-IMDB）</a:t>
            </a:r>
            <a:endParaRPr lang="zh-CN" sz="1050" dirty="0"/>
          </a:p>
        </p:txBody>
      </p:sp>
      <p:sp>
        <p:nvSpPr>
          <p:cNvPr id="37" name="Shape 25"/>
          <p:cNvSpPr/>
          <p:nvPr/>
        </p:nvSpPr>
        <p:spPr>
          <a:xfrm>
            <a:off x="719814" y="5366445"/>
            <a:ext cx="10752067" cy="641648"/>
          </a:xfrm>
          <a:prstGeom prst="roundRect">
            <a:avLst>
              <a:gd name="adj" fmla="val 18753"/>
            </a:avLst>
          </a:prstGeom>
          <a:solidFill>
            <a:srgbClr val="F3FF99"/>
          </a:solidFill>
          <a:ln/>
          <a:effectLst>
            <a:outerShdw blurRad="19939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719814" y="5366445"/>
            <a:ext cx="3583989" cy="641648"/>
          </a:xfrm>
          <a:prstGeom prst="rect">
            <a:avLst/>
          </a:prstGeom>
          <a:solidFill>
            <a:srgbClr val="F3FF99"/>
          </a:solidFill>
          <a:ln/>
        </p:spPr>
      </p:sp>
      <p:sp>
        <p:nvSpPr>
          <p:cNvPr id="39" name="Text 27"/>
          <p:cNvSpPr/>
          <p:nvPr/>
        </p:nvSpPr>
        <p:spPr>
          <a:xfrm>
            <a:off x="853458" y="550009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黑盒攻击</a:t>
            </a:r>
            <a:endParaRPr lang="zh-CN" sz="1450" dirty="0"/>
          </a:p>
        </p:txBody>
      </p:sp>
      <p:sp>
        <p:nvSpPr>
          <p:cNvPr id="40" name="Shape 28"/>
          <p:cNvSpPr/>
          <p:nvPr/>
        </p:nvSpPr>
        <p:spPr>
          <a:xfrm>
            <a:off x="4303803" y="5366445"/>
            <a:ext cx="3583989" cy="641648"/>
          </a:xfrm>
          <a:prstGeom prst="rect">
            <a:avLst/>
          </a:prstGeom>
          <a:solidFill>
            <a:srgbClr val="F3FF99"/>
          </a:solidFill>
          <a:ln/>
        </p:spPr>
      </p:sp>
      <p:sp>
        <p:nvSpPr>
          <p:cNvPr id="41" name="Shape 29"/>
          <p:cNvSpPr/>
          <p:nvPr/>
        </p:nvSpPr>
        <p:spPr>
          <a:xfrm>
            <a:off x="4303803" y="5366445"/>
            <a:ext cx="19050" cy="641648"/>
          </a:xfrm>
          <a:prstGeom prst="roundRect">
            <a:avLst>
              <a:gd name="adj" fmla="val 631640"/>
            </a:avLst>
          </a:prstGeom>
          <a:solidFill>
            <a:srgbClr val="B7DBE1"/>
          </a:solidFill>
          <a:ln/>
        </p:spPr>
      </p:sp>
      <p:sp>
        <p:nvSpPr>
          <p:cNvPr id="42" name="Text 30"/>
          <p:cNvSpPr/>
          <p:nvPr/>
        </p:nvSpPr>
        <p:spPr>
          <a:xfrm>
            <a:off x="4437448" y="550009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词级扰动</a:t>
            </a:r>
            <a:endParaRPr lang="zh-CN" sz="1450" dirty="0"/>
          </a:p>
        </p:txBody>
      </p:sp>
      <p:sp>
        <p:nvSpPr>
          <p:cNvPr id="43" name="Text 31"/>
          <p:cNvSpPr/>
          <p:nvPr/>
        </p:nvSpPr>
        <p:spPr>
          <a:xfrm>
            <a:off x="4437448" y="5742087"/>
            <a:ext cx="3316701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7887793" y="5366445"/>
            <a:ext cx="3584088" cy="641648"/>
          </a:xfrm>
          <a:prstGeom prst="rect">
            <a:avLst/>
          </a:prstGeom>
          <a:solidFill>
            <a:srgbClr val="F3FF99"/>
          </a:solidFill>
          <a:ln/>
        </p:spPr>
      </p:sp>
      <p:sp>
        <p:nvSpPr>
          <p:cNvPr id="45" name="Shape 33"/>
          <p:cNvSpPr/>
          <p:nvPr/>
        </p:nvSpPr>
        <p:spPr>
          <a:xfrm>
            <a:off x="7887793" y="5366445"/>
            <a:ext cx="19050" cy="641648"/>
          </a:xfrm>
          <a:prstGeom prst="roundRect">
            <a:avLst>
              <a:gd name="adj" fmla="val 631640"/>
            </a:avLst>
          </a:prstGeom>
          <a:solidFill>
            <a:srgbClr val="E5C97F"/>
          </a:solidFill>
          <a:ln/>
        </p:spPr>
      </p:sp>
      <p:sp>
        <p:nvSpPr>
          <p:cNvPr id="46" name="Text 34"/>
          <p:cNvSpPr/>
          <p:nvPr/>
        </p:nvSpPr>
        <p:spPr>
          <a:xfrm>
            <a:off x="8021437" y="550009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保持语义相似性</a:t>
            </a:r>
            <a:endParaRPr lang="zh-CN" sz="1450" dirty="0"/>
          </a:p>
        </p:txBody>
      </p:sp>
      <p:sp>
        <p:nvSpPr>
          <p:cNvPr id="47" name="Text 35"/>
          <p:cNvSpPr/>
          <p:nvPr/>
        </p:nvSpPr>
        <p:spPr>
          <a:xfrm>
            <a:off x="415022" y="6105823"/>
            <a:ext cx="11361652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zh-CN" altLang="en-US" sz="1050" i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两种方法的共同特征</a:t>
            </a:r>
            <a:r>
              <a:rPr lang="zh-CN" altLang="en-US" sz="1050" b="1" i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zh-CN" sz="105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9D4C0E6-411F-8C02-5E8F-0FA67747952A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6874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 复现结果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278533"/>
            <a:ext cx="5200421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spcAft>
                <a:spcPts val="700"/>
              </a:spcAft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目标模型：textattack/bert-base-uncased-imdb（干净准确率 93.7%）；</a:t>
            </a:r>
            <a:endParaRPr lang="zh-CN" sz="1100" dirty="0"/>
          </a:p>
          <a:p>
            <a:pPr marL="0" indent="0" algn="l">
              <a:lnSpc>
                <a:spcPct val="85000"/>
              </a:lnSpc>
              <a:spcAft>
                <a:spcPts val="700"/>
              </a:spcAft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数据集：IMDB 测试集 1000 条样本；</a:t>
            </a:r>
            <a:endParaRPr lang="zh-CN" sz="1100" dirty="0"/>
          </a:p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工具：TextAttack 框架，保留 USE 语义约束。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2001143"/>
            <a:ext cx="265473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结果分析</a:t>
            </a:r>
            <a:endParaRPr lang="zh-CN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318941"/>
            <a:ext cx="5200421" cy="863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8842" y="2642890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5419" y="2481957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ASR 超出预期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复现值 98.6% 高于论文 87%，因允许更多词汇修改（15.68 vs 13.1词）</a:t>
            </a:r>
            <a:endParaRPr lang="zh-CN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3283545"/>
            <a:ext cx="5200421" cy="863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8842" y="3607495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15419" y="3446562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效率更高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查询次数 652 次远低于论文报告的 1134 次，搜索策略更高效</a:t>
            </a:r>
            <a:endParaRPr lang="zh-CN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4248150"/>
            <a:ext cx="5200421" cy="8638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8842" y="4572099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15419" y="4411166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语义保持良好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相似度 0.9266，采用 sentence-transformers 计算，与论文 USE 模型存在差异</a:t>
            </a:r>
            <a:endParaRPr lang="zh-CN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5212755"/>
            <a:ext cx="5200421" cy="8638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8842" y="5536704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415419" y="5375771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整体吻合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复现结果验证了 TextFooler 对 BERT 模型的显著攻击能力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6277810" y="1176933"/>
            <a:ext cx="265473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复现结果对比</a:t>
            </a:r>
            <a:endParaRPr lang="zh-CN" sz="1600" dirty="0"/>
          </a:p>
        </p:txBody>
      </p:sp>
      <p:sp>
        <p:nvSpPr>
          <p:cNvPr id="18" name="Shape 12"/>
          <p:cNvSpPr/>
          <p:nvPr/>
        </p:nvSpPr>
        <p:spPr>
          <a:xfrm>
            <a:off x="6277810" y="1494730"/>
            <a:ext cx="5200421" cy="1440061"/>
          </a:xfrm>
          <a:prstGeom prst="roundRect">
            <a:avLst>
              <a:gd name="adj" fmla="val 899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284259" y="1501080"/>
            <a:ext cx="2075009" cy="283567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0" name="Text 14"/>
          <p:cNvSpPr/>
          <p:nvPr/>
        </p:nvSpPr>
        <p:spPr>
          <a:xfrm>
            <a:off x="6428222" y="1567855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指标</a:t>
            </a:r>
            <a:endParaRPr lang="zh-CN" sz="1100" dirty="0"/>
          </a:p>
        </p:txBody>
      </p:sp>
      <p:sp>
        <p:nvSpPr>
          <p:cNvPr id="21" name="Shape 15"/>
          <p:cNvSpPr/>
          <p:nvPr/>
        </p:nvSpPr>
        <p:spPr>
          <a:xfrm>
            <a:off x="8359268" y="1501080"/>
            <a:ext cx="1556306" cy="283567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2" name="Text 16"/>
          <p:cNvSpPr/>
          <p:nvPr/>
        </p:nvSpPr>
        <p:spPr>
          <a:xfrm>
            <a:off x="8503231" y="1567855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论文报告值</a:t>
            </a:r>
            <a:endParaRPr lang="zh-CN" sz="1100" dirty="0"/>
          </a:p>
        </p:txBody>
      </p:sp>
      <p:sp>
        <p:nvSpPr>
          <p:cNvPr id="23" name="Shape 17"/>
          <p:cNvSpPr/>
          <p:nvPr/>
        </p:nvSpPr>
        <p:spPr>
          <a:xfrm>
            <a:off x="9915575" y="1501080"/>
            <a:ext cx="1556306" cy="283567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4" name="Text 18"/>
          <p:cNvSpPr/>
          <p:nvPr/>
        </p:nvSpPr>
        <p:spPr>
          <a:xfrm>
            <a:off x="10059537" y="1567855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本次复现值</a:t>
            </a:r>
            <a:endParaRPr lang="zh-CN" sz="1100" dirty="0"/>
          </a:p>
        </p:txBody>
      </p:sp>
      <p:sp>
        <p:nvSpPr>
          <p:cNvPr id="25" name="Text 19"/>
          <p:cNvSpPr/>
          <p:nvPr/>
        </p:nvSpPr>
        <p:spPr>
          <a:xfrm>
            <a:off x="6428222" y="1854597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ASR（攻击成功率）</a:t>
            </a:r>
            <a:endParaRPr lang="zh-CN" sz="1100" dirty="0"/>
          </a:p>
        </p:txBody>
      </p:sp>
      <p:sp>
        <p:nvSpPr>
          <p:cNvPr id="26" name="Text 20"/>
          <p:cNvSpPr/>
          <p:nvPr/>
        </p:nvSpPr>
        <p:spPr>
          <a:xfrm>
            <a:off x="8503231" y="1854597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~87%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0059537" y="1854597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98.6%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28222" y="2141339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平均查询次数</a:t>
            </a:r>
            <a:endParaRPr lang="zh-CN" sz="1100" dirty="0"/>
          </a:p>
        </p:txBody>
      </p:sp>
      <p:sp>
        <p:nvSpPr>
          <p:cNvPr id="29" name="Text 23"/>
          <p:cNvSpPr/>
          <p:nvPr/>
        </p:nvSpPr>
        <p:spPr>
          <a:xfrm>
            <a:off x="8503231" y="2141339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1134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0059537" y="2141339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652.5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28222" y="2428081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语义相似度</a:t>
            </a:r>
            <a:endParaRPr lang="zh-CN" sz="1100" dirty="0"/>
          </a:p>
        </p:txBody>
      </p:sp>
      <p:sp>
        <p:nvSpPr>
          <p:cNvPr id="32" name="Text 26"/>
          <p:cNvSpPr/>
          <p:nvPr/>
        </p:nvSpPr>
        <p:spPr>
          <a:xfrm>
            <a:off x="8503231" y="2428081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0.86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0059537" y="2428081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0.9266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428222" y="2714823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平均更改词数</a:t>
            </a:r>
            <a:endParaRPr lang="zh-CN" sz="1100" dirty="0"/>
          </a:p>
        </p:txBody>
      </p:sp>
      <p:sp>
        <p:nvSpPr>
          <p:cNvPr id="35" name="Text 29"/>
          <p:cNvSpPr/>
          <p:nvPr/>
        </p:nvSpPr>
        <p:spPr>
          <a:xfrm>
            <a:off x="8503231" y="2714823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~13.1词</a:t>
            </a:r>
            <a:endParaRPr lang="zh-CN" sz="1100" dirty="0"/>
          </a:p>
        </p:txBody>
      </p:sp>
      <p:sp>
        <p:nvSpPr>
          <p:cNvPr id="36" name="Text 30"/>
          <p:cNvSpPr/>
          <p:nvPr/>
        </p:nvSpPr>
        <p:spPr>
          <a:xfrm>
            <a:off x="10059537" y="2714823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15.68词</a:t>
            </a:r>
            <a:endParaRPr lang="zh-CN" sz="11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810" y="3048099"/>
            <a:ext cx="3640245" cy="2620268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B3F2C786-415B-3625-5E50-B384969690A7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25388"/>
            <a:ext cx="678242" cy="222052"/>
          </a:xfrm>
          <a:prstGeom prst="roundRect">
            <a:avLst>
              <a:gd name="adj" fmla="val 50021"/>
            </a:avLst>
          </a:prstGeom>
          <a:noFill/>
          <a:ln/>
          <a:effectLst>
            <a:outerShdw blurRad="101600" dist="50800" dir="16200000" algn="bl" rotWithShape="0">
              <a:srgbClr val="040404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12284" y="771624"/>
            <a:ext cx="1102888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zh-CN" altLang="en-US" sz="9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复现实验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993676"/>
            <a:ext cx="4992067" cy="43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BERT-Attack 复现结果</a:t>
            </a:r>
            <a:endParaRPr lang="zh-CN" sz="3450" dirty="0"/>
          </a:p>
        </p:txBody>
      </p:sp>
      <p:sp>
        <p:nvSpPr>
          <p:cNvPr id="5" name="Text 3"/>
          <p:cNvSpPr/>
          <p:nvPr/>
        </p:nvSpPr>
        <p:spPr>
          <a:xfrm>
            <a:off x="719814" y="1478161"/>
            <a:ext cx="2800776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实验设置</a:t>
            </a:r>
            <a:endParaRPr lang="zh-CN" sz="1700" dirty="0"/>
          </a:p>
        </p:txBody>
      </p:sp>
      <p:sp>
        <p:nvSpPr>
          <p:cNvPr id="6" name="Shape 4"/>
          <p:cNvSpPr/>
          <p:nvPr/>
        </p:nvSpPr>
        <p:spPr>
          <a:xfrm>
            <a:off x="719814" y="1827411"/>
            <a:ext cx="5187919" cy="805160"/>
          </a:xfrm>
          <a:prstGeom prst="roundRect">
            <a:avLst>
              <a:gd name="adj" fmla="val 17244"/>
            </a:avLst>
          </a:prstGeom>
          <a:solidFill>
            <a:srgbClr val="FFFFFF"/>
          </a:solidFill>
          <a:ln/>
          <a:effectLst>
            <a:outerShdw blurRad="2311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3996" y="1981597"/>
            <a:ext cx="2191191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目标模型</a:t>
            </a:r>
            <a:endParaRPr lang="zh-CN" sz="1700" dirty="0"/>
          </a:p>
        </p:txBody>
      </p:sp>
      <p:sp>
        <p:nvSpPr>
          <p:cNvPr id="8" name="Text 6"/>
          <p:cNvSpPr/>
          <p:nvPr/>
        </p:nvSpPr>
        <p:spPr>
          <a:xfrm>
            <a:off x="873996" y="2316460"/>
            <a:ext cx="487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textattack/bert-base-uncased-imdb，IMDB 测试集 200 条样本</a:t>
            </a:r>
            <a:endParaRPr lang="zh-CN" sz="1200" dirty="0"/>
          </a:p>
        </p:txBody>
      </p:sp>
      <p:sp>
        <p:nvSpPr>
          <p:cNvPr id="9" name="Shape 7"/>
          <p:cNvSpPr/>
          <p:nvPr/>
        </p:nvSpPr>
        <p:spPr>
          <a:xfrm>
            <a:off x="719814" y="2748260"/>
            <a:ext cx="5187919" cy="967085"/>
          </a:xfrm>
          <a:prstGeom prst="roundRect">
            <a:avLst>
              <a:gd name="adj" fmla="val 14357"/>
            </a:avLst>
          </a:prstGeom>
          <a:solidFill>
            <a:srgbClr val="FFFFFF"/>
          </a:solidFill>
          <a:ln/>
          <a:effectLst>
            <a:outerShdw blurRad="2311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3996" y="2902446"/>
            <a:ext cx="2191191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参数配置</a:t>
            </a:r>
            <a:endParaRPr lang="zh-CN" sz="1700" dirty="0"/>
          </a:p>
        </p:txBody>
      </p:sp>
      <p:sp>
        <p:nvSpPr>
          <p:cNvPr id="11" name="Text 9"/>
          <p:cNvSpPr/>
          <p:nvPr/>
        </p:nvSpPr>
        <p:spPr>
          <a:xfrm>
            <a:off x="873996" y="3237309"/>
            <a:ext cx="48795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max_candidates=8，max_percent=0.4，query_budget=2000；ASR 按成功/(成功+失败)计算，排除14条模型本身预测错误的样本</a:t>
            </a:r>
            <a:endParaRPr lang="zh-CN" sz="1200" dirty="0"/>
          </a:p>
        </p:txBody>
      </p:sp>
      <p:sp>
        <p:nvSpPr>
          <p:cNvPr id="12" name="Shape 10"/>
          <p:cNvSpPr/>
          <p:nvPr/>
        </p:nvSpPr>
        <p:spPr>
          <a:xfrm>
            <a:off x="719814" y="3831034"/>
            <a:ext cx="5187919" cy="967085"/>
          </a:xfrm>
          <a:prstGeom prst="roundRect">
            <a:avLst>
              <a:gd name="adj" fmla="val 14357"/>
            </a:avLst>
          </a:prstGeom>
          <a:solidFill>
            <a:srgbClr val="FFFFFF"/>
          </a:solidFill>
          <a:ln/>
          <a:effectLst>
            <a:outerShdw blurRad="2311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996" y="3985220"/>
            <a:ext cx="2191191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结果分析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873996" y="4320084"/>
            <a:ext cx="48795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ASR 91.9% 与论文（&gt;90%）吻合；MLM 生成替换词在低查询次数下实现高攻击成功率，语义保持（0.9295）略优于 TextFooler（0.9266）</a:t>
            </a:r>
            <a:endParaRPr lang="zh-CN" sz="1200" dirty="0"/>
          </a:p>
        </p:txBody>
      </p:sp>
      <p:sp>
        <p:nvSpPr>
          <p:cNvPr id="15" name="Shape 13"/>
          <p:cNvSpPr/>
          <p:nvPr/>
        </p:nvSpPr>
        <p:spPr>
          <a:xfrm>
            <a:off x="6179288" y="595313"/>
            <a:ext cx="5409965" cy="5667276"/>
          </a:xfrm>
          <a:prstGeom prst="roundRect">
            <a:avLst>
              <a:gd name="adj" fmla="val 410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33470" y="711002"/>
            <a:ext cx="2800776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复现结果对比</a:t>
            </a:r>
            <a:endParaRPr lang="zh-CN" sz="1700" dirty="0"/>
          </a:p>
        </p:txBody>
      </p:sp>
      <p:sp>
        <p:nvSpPr>
          <p:cNvPr id="17" name="Shape 15"/>
          <p:cNvSpPr/>
          <p:nvPr/>
        </p:nvSpPr>
        <p:spPr>
          <a:xfrm>
            <a:off x="6333470" y="1060252"/>
            <a:ext cx="5101601" cy="1447006"/>
          </a:xfrm>
          <a:prstGeom prst="roundRect">
            <a:avLst>
              <a:gd name="adj" fmla="val 959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9920" y="1066602"/>
            <a:ext cx="2035521" cy="316508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19" name="Text 17"/>
          <p:cNvSpPr/>
          <p:nvPr/>
        </p:nvSpPr>
        <p:spPr>
          <a:xfrm>
            <a:off x="6494102" y="1142305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指标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8375440" y="1066602"/>
            <a:ext cx="1526641" cy="316508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1" name="Text 19"/>
          <p:cNvSpPr/>
          <p:nvPr/>
        </p:nvSpPr>
        <p:spPr>
          <a:xfrm>
            <a:off x="8529623" y="1142305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论文报告值</a:t>
            </a:r>
            <a:endParaRPr lang="zh-CN" sz="1200" dirty="0"/>
          </a:p>
        </p:txBody>
      </p:sp>
      <p:sp>
        <p:nvSpPr>
          <p:cNvPr id="22" name="Shape 20"/>
          <p:cNvSpPr/>
          <p:nvPr/>
        </p:nvSpPr>
        <p:spPr>
          <a:xfrm>
            <a:off x="9902081" y="1066602"/>
            <a:ext cx="1526641" cy="316508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6263" y="1142305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本次复现值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6494102" y="1461988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ASR（攻击成功率）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8529623" y="1461988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&gt;90%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6263" y="1461988"/>
            <a:ext cx="12182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91.9%</a:t>
            </a: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（171/186）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4102" y="1943596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平均查询次数</a:t>
            </a:r>
            <a:endParaRPr lang="zh-CN" sz="1200" dirty="0"/>
          </a:p>
        </p:txBody>
      </p:sp>
      <p:sp>
        <p:nvSpPr>
          <p:cNvPr id="28" name="Text 26"/>
          <p:cNvSpPr/>
          <p:nvPr/>
        </p:nvSpPr>
        <p:spPr>
          <a:xfrm>
            <a:off x="8529623" y="1943596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6263" y="1943596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267.2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4102" y="2263279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语义相似度</a:t>
            </a:r>
            <a:endParaRPr lang="zh-CN" sz="1200" dirty="0"/>
          </a:p>
        </p:txBody>
      </p:sp>
      <p:sp>
        <p:nvSpPr>
          <p:cNvPr id="31" name="Text 29"/>
          <p:cNvSpPr/>
          <p:nvPr/>
        </p:nvSpPr>
        <p:spPr>
          <a:xfrm>
            <a:off x="8529623" y="2263279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6263" y="2263279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0.9295</a:t>
            </a:r>
            <a:endParaRPr lang="en-US" sz="12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70" y="2637334"/>
            <a:ext cx="3826176" cy="275609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333470" y="5523508"/>
            <a:ext cx="5101601" cy="609005"/>
          </a:xfrm>
          <a:prstGeom prst="roundRect">
            <a:avLst>
              <a:gd name="adj" fmla="val 22798"/>
            </a:avLst>
          </a:prstGeom>
          <a:solidFill>
            <a:srgbClr val="E6E6E6"/>
          </a:solidFill>
          <a:ln/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53" y="5716191"/>
            <a:ext cx="192777" cy="15418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834612" y="5666085"/>
            <a:ext cx="44462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有效样本共 186 条（排除14条模型本身预测错误的样本），攻击成功率 = 171/186 = </a:t>
            </a:r>
            <a:r>
              <a:rPr lang="zh-CN" alt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91.9%</a:t>
            </a:r>
            <a:endParaRPr lang="zh-CN" sz="12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EF3458A-150C-0885-602C-F7C11854DE44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2114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结论与展望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2698849"/>
            <a:ext cx="5200421" cy="163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640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主要 </a:t>
            </a:r>
            <a:endParaRPr lang="zh-CN" sz="6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zh-CN" altLang="en-US" sz="64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结论</a:t>
            </a:r>
            <a:endParaRPr lang="zh-CN" sz="6400" dirty="0"/>
          </a:p>
        </p:txBody>
      </p:sp>
      <p:sp>
        <p:nvSpPr>
          <p:cNvPr id="4" name="Text 2"/>
          <p:cNvSpPr/>
          <p:nvPr/>
        </p:nvSpPr>
        <p:spPr>
          <a:xfrm>
            <a:off x="719814" y="4435673"/>
            <a:ext cx="5200421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本研究系统复现并改进了两种主流黑盒文本对抗攻击方法，提出 SC-BERT-Attack 改进策略，并验证了对抗训练的防御有效性。</a:t>
            </a:r>
            <a:endParaRPr lang="zh-CN" sz="1100" dirty="0"/>
          </a:p>
        </p:txBody>
      </p:sp>
      <p:sp>
        <p:nvSpPr>
          <p:cNvPr id="5" name="Text 3"/>
          <p:cNvSpPr/>
          <p:nvPr/>
        </p:nvSpPr>
        <p:spPr>
          <a:xfrm>
            <a:off x="6277810" y="1582043"/>
            <a:ext cx="3613853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防御效果（对抗训练后 ASR 变化）</a:t>
            </a:r>
            <a:endParaRPr lang="zh-CN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810" y="1899841"/>
            <a:ext cx="5200421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1773" y="2043807"/>
            <a:ext cx="4912495" cy="981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5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 98.6%→5.5%　BERT-Attack 91.9%→6.1%　SC-BERT-Attack 19.5%→0%　对抗训练大幅提升模型鲁棒性</a:t>
            </a:r>
            <a:endParaRPr lang="zh-CN" sz="2550" dirty="0"/>
          </a:p>
        </p:txBody>
      </p:sp>
      <p:sp>
        <p:nvSpPr>
          <p:cNvPr id="8" name="Text 5"/>
          <p:cNvSpPr/>
          <p:nvPr/>
        </p:nvSpPr>
        <p:spPr>
          <a:xfrm>
            <a:off x="6277810" y="3455491"/>
            <a:ext cx="265473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局限性与未来展望</a:t>
            </a:r>
            <a:endParaRPr lang="zh-CN" sz="1600" dirty="0"/>
          </a:p>
        </p:txBody>
      </p:sp>
      <p:sp>
        <p:nvSpPr>
          <p:cNvPr id="9" name="Shape 6"/>
          <p:cNvSpPr/>
          <p:nvPr/>
        </p:nvSpPr>
        <p:spPr>
          <a:xfrm>
            <a:off x="6277810" y="3773289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3FF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17050" y="3812530"/>
            <a:ext cx="24536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02456" y="3845223"/>
            <a:ext cx="4775775" cy="613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局限性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样本量有限（200~1000条），对抗训练以牺牲部分干净准确率为代价，语义过滤阈值（0.5）为经验设定，未做超参数搜索</a:t>
            </a:r>
            <a:endParaRPr lang="zh-CN" sz="1600" dirty="0"/>
          </a:p>
        </p:txBody>
      </p:sp>
      <p:sp>
        <p:nvSpPr>
          <p:cNvPr id="12" name="Shape 9"/>
          <p:cNvSpPr/>
          <p:nvPr/>
        </p:nvSpPr>
        <p:spPr>
          <a:xfrm>
            <a:off x="6277810" y="4660205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D1F5FB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17050" y="4699446"/>
            <a:ext cx="24536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702456" y="4732139"/>
            <a:ext cx="4775775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方法拓展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探索更高效的语义约束方法（如基于句子级别的相似度），研究迁移攻击与集成防御策略</a:t>
            </a:r>
            <a:endParaRPr lang="zh-CN" sz="1600" dirty="0"/>
          </a:p>
        </p:txBody>
      </p:sp>
      <p:sp>
        <p:nvSpPr>
          <p:cNvPr id="15" name="Shape 12"/>
          <p:cNvSpPr/>
          <p:nvPr/>
        </p:nvSpPr>
        <p:spPr>
          <a:xfrm>
            <a:off x="6277810" y="5342632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FE3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17050" y="5381873"/>
            <a:ext cx="24536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702456" y="5414566"/>
            <a:ext cx="4775775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场景泛化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将方法推广至其他 NLP 任务（问答、自然语言推理等），验证方法的普适性与迁移性</a:t>
            </a:r>
            <a:endParaRPr lang="zh-CN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4E6DFE-82E6-F27D-4196-6155E5B7C4EF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FC35-ABC5-127D-C0EB-DA280584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9E2EAF-23AB-6F6F-A9E3-491804A07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477" y="1725955"/>
            <a:ext cx="3925963" cy="324503"/>
          </a:xfrm>
          <a:prstGeom prst="rect">
            <a:avLst/>
          </a:prstGeom>
        </p:spPr>
      </p:pic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468A45D6-E27D-B1B1-D481-B327E2715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478" y="963657"/>
            <a:ext cx="3925964" cy="32450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C30AD16-5B67-C50E-07C7-EA859356A7A8}"/>
              </a:ext>
            </a:extLst>
          </p:cNvPr>
          <p:cNvSpPr/>
          <p:nvPr/>
        </p:nvSpPr>
        <p:spPr>
          <a:xfrm>
            <a:off x="66840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改进方法原理</a:t>
            </a:r>
            <a:endParaRPr lang="zh-CN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A166B7-65ED-202A-F637-3E7FF9B36CD5}"/>
              </a:ext>
            </a:extLst>
          </p:cNvPr>
          <p:cNvSpPr/>
          <p:nvPr/>
        </p:nvSpPr>
        <p:spPr>
          <a:xfrm>
            <a:off x="719814" y="1278533"/>
            <a:ext cx="5200421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spcAft>
                <a:spcPts val="700"/>
              </a:spcAft>
              <a:buNone/>
            </a:pPr>
            <a:endParaRPr lang="zh-CN" sz="11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433DAA-02CD-C840-731B-5D5AD302626F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3B69030B-A614-2019-E05C-2C7F0464B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93792"/>
              </p:ext>
            </p:extLst>
          </p:nvPr>
        </p:nvGraphicFramePr>
        <p:xfrm>
          <a:off x="668399" y="2606852"/>
          <a:ext cx="10650909" cy="3390977"/>
        </p:xfrm>
        <a:graphic>
          <a:graphicData uri="http://schemas.openxmlformats.org/drawingml/2006/table">
            <a:tbl>
              <a:tblPr/>
              <a:tblGrid>
                <a:gridCol w="4805572">
                  <a:extLst>
                    <a:ext uri="{9D8B030D-6E8A-4147-A177-3AD203B41FA5}">
                      <a16:colId xmlns:a16="http://schemas.microsoft.com/office/drawing/2014/main" val="155150649"/>
                    </a:ext>
                  </a:extLst>
                </a:gridCol>
                <a:gridCol w="5845337">
                  <a:extLst>
                    <a:ext uri="{9D8B030D-6E8A-4147-A177-3AD203B41FA5}">
                      <a16:colId xmlns:a16="http://schemas.microsoft.com/office/drawing/2014/main" val="2814417022"/>
                    </a:ext>
                  </a:extLst>
                </a:gridCol>
              </a:tblGrid>
              <a:tr h="36998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  <a:ea typeface="Instrument Serif Bold"/>
                        </a:rPr>
                        <a:t>控制组：BERT-Attack（基线）</a:t>
                      </a:r>
                      <a:endParaRPr lang="zh-CN" sz="1600" b="0" dirty="0">
                        <a:solidFill>
                          <a:schemeClr val="bg1"/>
                        </a:solidFill>
                        <a:effectLst/>
                        <a:latin typeface="Instrument Serif Bold"/>
                        <a:ea typeface="Instrument Serif Bold"/>
                      </a:endParaRP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  <a:ea typeface="Instrument Serif Bold"/>
                        </a:rPr>
                        <a:t>实验组：SC-BERT-Attack（我们的改进）</a:t>
                      </a:r>
                      <a:endParaRPr lang="zh-CN" sz="1600" b="0" dirty="0">
                        <a:solidFill>
                          <a:schemeClr val="bg1"/>
                        </a:solidFill>
                        <a:effectLst/>
                        <a:latin typeface="Instrument Serif Bold"/>
                        <a:ea typeface="Instrument Serif Bold"/>
                      </a:endParaRP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71587"/>
                  </a:ext>
                </a:extLst>
              </a:tr>
              <a:tr h="15334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跳过过滤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：直接使用 MLM 生成的 10 个候选词。</a:t>
                      </a: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★ </a:t>
                      </a:r>
                      <a:r>
                        <a:rPr lang="zh-CN" sz="1600" b="1" u="sng" dirty="0">
                          <a:effectLst/>
                          <a:latin typeface="Instrument Serif Bold"/>
                          <a:ea typeface="Instrument Serif Bold"/>
                        </a:rPr>
                        <a:t>语义相似度过滤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：调用 filter_by_embedding_similarity，计算每个候选词与原词的 BERT 词嵌入（mlm_model.bert.embeddings.word_embeddings）余弦相似度，</a:t>
                      </a: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仅保留相似度 ≥ 0.5 的词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。若过滤后为空，则回退到前 3 个原始候选。</a:t>
                      </a:r>
                    </a:p>
                  </a:txBody>
                  <a:tcPr marL="54978" marR="49480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60588"/>
                  </a:ext>
                </a:extLst>
              </a:tr>
              <a:tr h="54008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将候选词逐一替换到原句，组成候选句列表。</a:t>
                      </a: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仅将过滤后的近义词替换到原句。</a:t>
                      </a:r>
                    </a:p>
                  </a:txBody>
                  <a:tcPr marL="54978" marR="49480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547270"/>
                  </a:ext>
                </a:extLst>
              </a:tr>
              <a:tr h="94742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批量查询目标模型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（predict_batch），判断是否有候选词能使分类器预测错误。查询次数累加候选词数量。</a:t>
                      </a: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同左，但查询次数通常更少（候选池被压缩）。</a:t>
                      </a:r>
                    </a:p>
                  </a:txBody>
                  <a:tcPr marL="54978" marR="49480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1312"/>
                  </a:ext>
                </a:extLst>
              </a:tr>
            </a:tbl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E7AB630A-49D1-875A-5098-3AD337D49F37}"/>
              </a:ext>
            </a:extLst>
          </p:cNvPr>
          <p:cNvSpPr txBox="1"/>
          <p:nvPr/>
        </p:nvSpPr>
        <p:spPr>
          <a:xfrm>
            <a:off x="610478" y="6092108"/>
            <a:ext cx="10561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1" i="0" dirty="0">
                <a:solidFill>
                  <a:srgbClr val="0F1115"/>
                </a:solidFill>
                <a:effectLst/>
                <a:latin typeface="Instrument Serif Bold"/>
                <a:ea typeface="Instrument Serif Bold"/>
              </a:rPr>
              <a:t>预期效果</a:t>
            </a:r>
            <a:r>
              <a:rPr lang="zh-CN" altLang="zh-CN" b="0" i="0" dirty="0">
                <a:solidFill>
                  <a:srgbClr val="0F1115"/>
                </a:solidFill>
                <a:effectLst/>
                <a:latin typeface="Instrument Serif Bold"/>
                <a:ea typeface="Instrument Serif Bold"/>
              </a:rPr>
              <a:t>：</a:t>
            </a:r>
            <a:r>
              <a:rPr lang="zh-CN" altLang="zh-CN" dirty="0">
                <a:latin typeface="Instrument Serif Bold"/>
              </a:rPr>
              <a:t>实验组语义相似度高于控制组，查询次数更低；ASR 可能略降（搜索空间受限）。</a:t>
            </a:r>
            <a:endParaRPr lang="zh-CN" altLang="en-US" dirty="0">
              <a:latin typeface="Instrument Serif Bold"/>
              <a:ea typeface="Instrument Serif Bold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8074405-43CD-1F58-371A-4A72B316794B}"/>
              </a:ext>
            </a:extLst>
          </p:cNvPr>
          <p:cNvSpPr txBox="1"/>
          <p:nvPr/>
        </p:nvSpPr>
        <p:spPr>
          <a:xfrm>
            <a:off x="610478" y="963658"/>
            <a:ext cx="112062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标准 BERT-Attack 的局限性</a:t>
            </a:r>
            <a:endParaRPr lang="en-US" altLang="zh-CN" sz="1600" b="1" dirty="0">
              <a:solidFill>
                <a:srgbClr val="1F2328"/>
              </a:solidFill>
              <a:latin typeface="Instrument Serif Bold"/>
              <a:ea typeface="Instrument Serif Bold"/>
            </a:endParaRPr>
          </a:p>
          <a:p>
            <a:pPr algn="l">
              <a:buNone/>
            </a:pP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BERT-Attack（Li et al., EMNLP 2020）使用 BERT-MLM 生成候选替换词，但</a:t>
            </a: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不加语义约束</a:t>
            </a: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。一个词如 "good" 可能被替换为 "bad" 只要能让分类器出错，导致对抗文本不自然、含义反转。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SC-BERT-Attack 改进</a:t>
            </a:r>
          </a:p>
          <a:p>
            <a:pPr algn="l">
              <a:buNone/>
            </a:pP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在 MLM 生成候选后，使用 BERT 自身词向量的余弦相似度</a:t>
            </a: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过滤候选词</a:t>
            </a: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：</a:t>
            </a:r>
          </a:p>
          <a:p>
            <a:pPr algn="l">
              <a:buNone/>
            </a:pP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候选词 = { w ∈ MLM_top50(original_word) | cosine_sim(emb(w), emb(original_word)) ≥ 0.5 }</a:t>
            </a:r>
          </a:p>
        </p:txBody>
      </p:sp>
    </p:spTree>
    <p:extLst>
      <p:ext uri="{BB962C8B-B14F-4D97-AF65-F5344CB8AC3E}">
        <p14:creationId xmlns:p14="http://schemas.microsoft.com/office/powerpoint/2010/main" val="371731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7A3C-DC4A-D296-BDF5-0134626A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C786A6-950F-8748-FECC-7BE3E7A5BC59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SC-BERT-Attack</a:t>
            </a: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实验结果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0DC994-26B9-E0E0-5E39-AC2EA83F5831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913E8685-67BF-B100-A330-C10A221B4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3521"/>
              </p:ext>
            </p:extLst>
          </p:nvPr>
        </p:nvGraphicFramePr>
        <p:xfrm>
          <a:off x="594360" y="1520965"/>
          <a:ext cx="5873817" cy="4661307"/>
        </p:xfrm>
        <a:graphic>
          <a:graphicData uri="http://schemas.openxmlformats.org/drawingml/2006/table">
            <a:tbl>
              <a:tblPr/>
              <a:tblGrid>
                <a:gridCol w="1132621">
                  <a:extLst>
                    <a:ext uri="{9D8B030D-6E8A-4147-A177-3AD203B41FA5}">
                      <a16:colId xmlns:a16="http://schemas.microsoft.com/office/drawing/2014/main" val="3844861742"/>
                    </a:ext>
                  </a:extLst>
                </a:gridCol>
                <a:gridCol w="809638">
                  <a:extLst>
                    <a:ext uri="{9D8B030D-6E8A-4147-A177-3AD203B41FA5}">
                      <a16:colId xmlns:a16="http://schemas.microsoft.com/office/drawing/2014/main" val="1651211585"/>
                    </a:ext>
                  </a:extLst>
                </a:gridCol>
                <a:gridCol w="940885">
                  <a:extLst>
                    <a:ext uri="{9D8B030D-6E8A-4147-A177-3AD203B41FA5}">
                      <a16:colId xmlns:a16="http://schemas.microsoft.com/office/drawing/2014/main" val="3426082962"/>
                    </a:ext>
                  </a:extLst>
                </a:gridCol>
                <a:gridCol w="1053793">
                  <a:extLst>
                    <a:ext uri="{9D8B030D-6E8A-4147-A177-3AD203B41FA5}">
                      <a16:colId xmlns:a16="http://schemas.microsoft.com/office/drawing/2014/main" val="2246053440"/>
                    </a:ext>
                  </a:extLst>
                </a:gridCol>
                <a:gridCol w="1936880">
                  <a:extLst>
                    <a:ext uri="{9D8B030D-6E8A-4147-A177-3AD203B41FA5}">
                      <a16:colId xmlns:a16="http://schemas.microsoft.com/office/drawing/2014/main" val="3711244435"/>
                    </a:ext>
                  </a:extLst>
                </a:gridCol>
              </a:tblGrid>
              <a:tr h="70895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评估指标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BERT-Attack</a:t>
                      </a:r>
                      <a:endParaRPr lang="zh-CN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SC-BERT-Attack</a:t>
                      </a:r>
                      <a:endParaRPr lang="zh-CN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变化幅度（Δ）</a:t>
                      </a:r>
                      <a:endParaRPr lang="zh-CN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趋势评价</a:t>
                      </a:r>
                      <a:endParaRPr lang="zh-CN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96156"/>
                  </a:ext>
                </a:extLst>
              </a:tr>
              <a:tr h="7089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攻击成功率 (ASR)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33.0%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19.5%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↓ 13.5 个百分点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预期内下降（约束变强）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16458"/>
                  </a:ext>
                </a:extLst>
              </a:tr>
              <a:tr h="7861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effectLst/>
                          <a:latin typeface="quote-cjk-patch"/>
                        </a:rPr>
                        <a:t>平均查询次数 (Avg Queries)</a:t>
                      </a:r>
                      <a:endParaRPr lang="zh-CN" sz="14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944.4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effectLst/>
                          <a:latin typeface="quote-cjk-patch"/>
                        </a:rPr>
                        <a:t>397.1</a:t>
                      </a:r>
                      <a:endParaRPr lang="zh-CN" sz="14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↓ 58.0%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 dirty="0">
                          <a:effectLst/>
                          <a:latin typeface="quote-cjk-patch"/>
                        </a:rPr>
                        <a:t>⭐ </a:t>
                      </a:r>
                      <a:r>
                        <a:rPr lang="zh-CN" sz="1400" b="1" dirty="0">
                          <a:effectLst/>
                          <a:latin typeface="quote-cjk-patch"/>
                        </a:rPr>
                        <a:t>显著提升（高效）</a:t>
                      </a:r>
                      <a:endParaRPr lang="zh-CN" sz="14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935302"/>
                  </a:ext>
                </a:extLst>
              </a:tr>
              <a:tr h="988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扰动率 (Perturb Rate)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0.95%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0.85%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↓ 0.1 个百分点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 dirty="0">
                          <a:effectLst/>
                          <a:latin typeface="quote-cjk-patch"/>
                        </a:rPr>
                        <a:t>扰动更小、更隐蔽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84428"/>
                  </a:ext>
                </a:extLst>
              </a:tr>
              <a:tr h="988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语义相似度 (Sem. Similarity)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0.9905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0.9923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↑ 0.0018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⭐ </a:t>
                      </a:r>
                      <a:r>
                        <a:rPr lang="zh-CN" sz="1400" b="1">
                          <a:effectLst/>
                          <a:latin typeface="quote-cjk-patch"/>
                        </a:rPr>
                        <a:t>语义保真度更高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752291"/>
                  </a:ext>
                </a:extLst>
              </a:tr>
              <a:tr h="4285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成功样本数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66 / 200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39 / 200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 dirty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12450"/>
                  </a:ext>
                </a:extLst>
              </a:tr>
            </a:tbl>
          </a:graphicData>
        </a:graphic>
      </p:graphicFrame>
      <p:sp>
        <p:nvSpPr>
          <p:cNvPr id="41" name="文本框 40">
            <a:extLst>
              <a:ext uri="{FF2B5EF4-FFF2-40B4-BE49-F238E27FC236}">
                <a16:creationId xmlns:a16="http://schemas.microsoft.com/office/drawing/2014/main" id="{A9ABA931-8D87-7F40-BD17-86C4375431CA}"/>
              </a:ext>
            </a:extLst>
          </p:cNvPr>
          <p:cNvSpPr txBox="1"/>
          <p:nvPr/>
        </p:nvSpPr>
        <p:spPr>
          <a:xfrm>
            <a:off x="594360" y="1111886"/>
            <a:ext cx="6097604" cy="375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dirty="0">
                <a:solidFill>
                  <a:srgbClr val="0F1115"/>
                </a:solidFill>
                <a:effectLst/>
                <a:latin typeface="quote-cjk-patch"/>
              </a:rPr>
              <a:t>核心结果对比表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38609D4B-9BCB-BB98-1CF5-BD9B5A62D3B2}"/>
              </a:ext>
            </a:extLst>
          </p:cNvPr>
          <p:cNvPicPr>
            <a:picLocks/>
          </p:cNvPicPr>
          <p:nvPr/>
        </p:nvPicPr>
        <p:blipFill>
          <a:blip r:embed="rId3"/>
          <a:srcRect t="9287" r="51052"/>
          <a:stretch>
            <a:fillRect/>
          </a:stretch>
        </p:blipFill>
        <p:spPr>
          <a:xfrm>
            <a:off x="6827992" y="1111886"/>
            <a:ext cx="3968682" cy="261514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54450835-DC3F-5959-A9B4-D7160B583F35}"/>
              </a:ext>
            </a:extLst>
          </p:cNvPr>
          <p:cNvPicPr>
            <a:picLocks/>
          </p:cNvPicPr>
          <p:nvPr/>
        </p:nvPicPr>
        <p:blipFill>
          <a:blip r:embed="rId3"/>
          <a:srcRect l="48702" t="10551"/>
          <a:stretch>
            <a:fillRect/>
          </a:stretch>
        </p:blipFill>
        <p:spPr>
          <a:xfrm>
            <a:off x="6691964" y="3851618"/>
            <a:ext cx="4192874" cy="256944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F8A55EA-FBAE-BCD1-3535-A334AA905FCC}"/>
              </a:ext>
            </a:extLst>
          </p:cNvPr>
          <p:cNvPicPr>
            <a:picLocks/>
          </p:cNvPicPr>
          <p:nvPr/>
        </p:nvPicPr>
        <p:blipFill>
          <a:blip r:embed="rId3"/>
          <a:srcRect l="25688" t="-991" r="28454" b="91736"/>
          <a:stretch>
            <a:fillRect/>
          </a:stretch>
        </p:blipFill>
        <p:spPr>
          <a:xfrm>
            <a:off x="6516303" y="688799"/>
            <a:ext cx="4192874" cy="42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7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6C5C-895B-EE47-FA0F-2FED8A16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32E055E8-18CD-741E-CEB6-3761B3DE9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589" y="1149881"/>
            <a:ext cx="3217237" cy="53445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6795EBA-3148-4907-6358-14D6897C65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985" y="2851597"/>
            <a:ext cx="3217244" cy="534450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9A6E60A-139B-1E69-418D-2B80AB0AD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986" y="1177826"/>
            <a:ext cx="3217244" cy="53445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380C26E-B626-563C-2AA2-EAAA58EA3A35}"/>
              </a:ext>
            </a:extLst>
          </p:cNvPr>
          <p:cNvSpPr/>
          <p:nvPr/>
        </p:nvSpPr>
        <p:spPr>
          <a:xfrm>
            <a:off x="719814" y="76874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对抗训练防御方法</a:t>
            </a:r>
            <a:endParaRPr lang="zh-CN" sz="3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456A9A-8443-F825-D4F1-3FCA71E1CD4B}"/>
              </a:ext>
            </a:extLst>
          </p:cNvPr>
          <p:cNvSpPr txBox="1"/>
          <p:nvPr/>
        </p:nvSpPr>
        <p:spPr>
          <a:xfrm>
            <a:off x="603985" y="1315910"/>
            <a:ext cx="609760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  <a:spcAft>
                <a:spcPts val="1200"/>
              </a:spcAft>
            </a:pPr>
            <a:r>
              <a:rPr lang="zh-CN" altLang="zh-CN" b="1" i="0" dirty="0">
                <a:solidFill>
                  <a:srgbClr val="1F2328"/>
                </a:solidFill>
                <a:effectLst/>
                <a:latin typeface="Instrument Serif Bold"/>
              </a:rPr>
              <a:t>核心思想</a:t>
            </a:r>
          </a:p>
          <a:p>
            <a:pPr algn="l">
              <a:spcAft>
                <a:spcPts val="1200"/>
              </a:spcAft>
              <a:buNone/>
            </a:pPr>
            <a:r>
              <a:rPr lang="en-US" altLang="zh-CN" dirty="0">
                <a:solidFill>
                  <a:srgbClr val="1F2328"/>
                </a:solidFill>
                <a:latin typeface="Instrument Serif Bold"/>
              </a:rPr>
              <a:t>            </a:t>
            </a: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在训练时将对抗样本混入训练集，让模型见过被攻击的文本，从而提高鲁棒性。这是对抗鲁棒性研究的标准基线方法，直接对应题目中"鲁棒性分析"部分。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dirty="0">
                <a:solidFill>
                  <a:srgbClr val="1F2328"/>
                </a:solidFill>
                <a:latin typeface="Instrument Serif Bold"/>
              </a:rPr>
              <a:t>             </a:t>
            </a:r>
            <a:r>
              <a:rPr lang="zh-CN" altLang="zh-CN" b="1" i="0" dirty="0">
                <a:solidFill>
                  <a:srgbClr val="1F2328"/>
                </a:solidFill>
                <a:effectLst/>
                <a:latin typeface="Instrument Serif Bold"/>
              </a:rPr>
              <a:t>流程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① 用 TextFooler 攻击训练集，生成对抗样本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② 将对抗样本与干净样本 1:1 混合，构建混合训练集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③ 在混合数据集上重新微调 BERT（2 epoch）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④ 用 TextFooler 再次攻击，对比干净模型 vs 鲁棒模型的 ASR 变化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296187B-4ED4-66E2-6575-D34BF722B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90145"/>
              </p:ext>
            </p:extLst>
          </p:nvPr>
        </p:nvGraphicFramePr>
        <p:xfrm>
          <a:off x="6701589" y="2017112"/>
          <a:ext cx="4454091" cy="3041840"/>
        </p:xfrm>
        <a:graphic>
          <a:graphicData uri="http://schemas.openxmlformats.org/drawingml/2006/table">
            <a:tbl>
              <a:tblPr/>
              <a:tblGrid>
                <a:gridCol w="1655527">
                  <a:extLst>
                    <a:ext uri="{9D8B030D-6E8A-4147-A177-3AD203B41FA5}">
                      <a16:colId xmlns:a16="http://schemas.microsoft.com/office/drawing/2014/main" val="1875050007"/>
                    </a:ext>
                  </a:extLst>
                </a:gridCol>
                <a:gridCol w="1399282">
                  <a:extLst>
                    <a:ext uri="{9D8B030D-6E8A-4147-A177-3AD203B41FA5}">
                      <a16:colId xmlns:a16="http://schemas.microsoft.com/office/drawing/2014/main" val="3156596159"/>
                    </a:ext>
                  </a:extLst>
                </a:gridCol>
                <a:gridCol w="1399282">
                  <a:extLst>
                    <a:ext uri="{9D8B030D-6E8A-4147-A177-3AD203B41FA5}">
                      <a16:colId xmlns:a16="http://schemas.microsoft.com/office/drawing/2014/main" val="3286649442"/>
                    </a:ext>
                  </a:extLst>
                </a:gridCol>
              </a:tblGrid>
              <a:tr h="113268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</a:rPr>
                        <a:t>模型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</a:rPr>
                        <a:t>干净准确率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</a:rPr>
                        <a:t>TextFooler 攻击后准确率（鲁棒准确率）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688561"/>
                  </a:ext>
                </a:extLst>
              </a:tr>
              <a:tr h="8451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effectLst/>
                          <a:latin typeface="Instrument Serif Bold"/>
                        </a:rPr>
                        <a:t>原始模型</a:t>
                      </a:r>
                      <a:endParaRPr lang="zh-CN" sz="1600" b="0">
                        <a:effectLst/>
                        <a:latin typeface="Instrument Serif Bold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>
                          <a:effectLst/>
                          <a:latin typeface="Instrument Serif Bold"/>
                        </a:rPr>
                        <a:t>~93.7%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</a:rPr>
                        <a:t>~10–20%（即 ASR ~80–90%）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329500"/>
                  </a:ext>
                </a:extLst>
              </a:tr>
              <a:tr h="106399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effectLst/>
                          <a:latin typeface="Instrument Serif Bold"/>
                        </a:rPr>
                        <a:t>鲁棒模型（对抗训练后）</a:t>
                      </a:r>
                      <a:endParaRPr lang="zh-CN" sz="1600" b="0">
                        <a:effectLst/>
                        <a:latin typeface="Instrument Serif Bold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>
                          <a:effectLst/>
                          <a:latin typeface="Instrument Serif Bold"/>
                        </a:rPr>
                        <a:t>~89–91%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</a:rPr>
                        <a:t>~50–60%（即 ASR ~40–50%）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211929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A67EEA3-753B-D738-3B0F-36725DA6F220}"/>
              </a:ext>
            </a:extLst>
          </p:cNvPr>
          <p:cNvSpPr txBox="1"/>
          <p:nvPr/>
        </p:nvSpPr>
        <p:spPr>
          <a:xfrm>
            <a:off x="7052912" y="1257531"/>
            <a:ext cx="6097604" cy="375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b="1" dirty="0">
                <a:solidFill>
                  <a:srgbClr val="0F1115"/>
                </a:solidFill>
                <a:effectLst/>
                <a:latin typeface="Instrument Serif Bold"/>
              </a:rPr>
              <a:t>预期效果表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0646AB-AD18-41F7-3542-E63C31119259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402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2DFD-655E-A546-CA1B-D57D0DF3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2">
            <a:extLst>
              <a:ext uri="{FF2B5EF4-FFF2-40B4-BE49-F238E27FC236}">
                <a16:creationId xmlns:a16="http://schemas.microsoft.com/office/drawing/2014/main" id="{F6772E2B-26E4-3752-B823-4E2CF61C86D1}"/>
              </a:ext>
            </a:extLst>
          </p:cNvPr>
          <p:cNvSpPr/>
          <p:nvPr/>
        </p:nvSpPr>
        <p:spPr>
          <a:xfrm>
            <a:off x="8091765" y="3267025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FE3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A3C6E42C-3F43-782C-28A7-2367503C5479}"/>
              </a:ext>
            </a:extLst>
          </p:cNvPr>
          <p:cNvSpPr/>
          <p:nvPr/>
        </p:nvSpPr>
        <p:spPr>
          <a:xfrm>
            <a:off x="8091766" y="2577057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D1F5FB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624C3866-4C4D-547E-C4B5-87F9AAD474D6}"/>
              </a:ext>
            </a:extLst>
          </p:cNvPr>
          <p:cNvSpPr/>
          <p:nvPr/>
        </p:nvSpPr>
        <p:spPr>
          <a:xfrm>
            <a:off x="8091767" y="2175496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3FF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951D9D2-486C-2303-8E8A-E758FDB3BC77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防御效果对比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F71FE37-55C1-D047-0598-6B9A6CFB0C0E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B4B6506-6C1E-21A2-AB5B-F7DD947D7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40" y="1539529"/>
            <a:ext cx="7580827" cy="421157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35E2CD4E-2921-5625-DB47-A3BA771CDB10}"/>
              </a:ext>
            </a:extLst>
          </p:cNvPr>
          <p:cNvSpPr txBox="1"/>
          <p:nvPr/>
        </p:nvSpPr>
        <p:spPr>
          <a:xfrm>
            <a:off x="8180813" y="1344766"/>
            <a:ext cx="3831516" cy="4406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对抗训练在三种攻击方法上均实现了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显著的防御效果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TextFooler：ASR 从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98.6% 降至 5.5%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（↓ 93.1 pp）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BERT-Attack：ASR 从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91.9% 降至 6.1%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（↓ 85.8 pp）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SC-BERT-Attack：ASR 从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19.5% 降至 0.0%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（完全防御）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同时，攻击查询次数增加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3~4.4 倍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，成功攻击样本的语义相似度从 ~0.93 降至 ~0.78。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结论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：对抗训练在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有效性、泛化性、成本阻吓力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三个维度上均达到预期目标，完美对应题目中“鲁棒性分析”的要求。</a:t>
            </a:r>
          </a:p>
        </p:txBody>
      </p:sp>
    </p:spTree>
    <p:extLst>
      <p:ext uri="{BB962C8B-B14F-4D97-AF65-F5344CB8AC3E}">
        <p14:creationId xmlns:p14="http://schemas.microsoft.com/office/powerpoint/2010/main" val="411960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3F31-0862-4B68-3CEF-C4B8F291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E4BD1B-A18A-808E-B5C0-72A94CF1DE46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综合对比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F398C7-24EB-6D95-FCFC-FA3D9C5925DC}"/>
              </a:ext>
            </a:extLst>
          </p:cNvPr>
          <p:cNvSpPr/>
          <p:nvPr/>
        </p:nvSpPr>
        <p:spPr>
          <a:xfrm>
            <a:off x="10884838" y="6582085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169E80E-0301-3FB1-A996-3ADEC26FE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140" y="3118483"/>
            <a:ext cx="4797551" cy="26653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C60812-8615-A28F-12A3-929C3A278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18" y="3047820"/>
            <a:ext cx="4924744" cy="2735969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A41BFA5-53CF-5518-9E7B-64F31F7D7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554729"/>
              </p:ext>
            </p:extLst>
          </p:nvPr>
        </p:nvGraphicFramePr>
        <p:xfrm>
          <a:off x="594360" y="1111782"/>
          <a:ext cx="10886173" cy="1971040"/>
        </p:xfrm>
        <a:graphic>
          <a:graphicData uri="http://schemas.openxmlformats.org/drawingml/2006/table">
            <a:tbl>
              <a:tblPr/>
              <a:tblGrid>
                <a:gridCol w="1773455">
                  <a:extLst>
                    <a:ext uri="{9D8B030D-6E8A-4147-A177-3AD203B41FA5}">
                      <a16:colId xmlns:a16="http://schemas.microsoft.com/office/drawing/2014/main" val="2585558572"/>
                    </a:ext>
                  </a:extLst>
                </a:gridCol>
                <a:gridCol w="1029903">
                  <a:extLst>
                    <a:ext uri="{9D8B030D-6E8A-4147-A177-3AD203B41FA5}">
                      <a16:colId xmlns:a16="http://schemas.microsoft.com/office/drawing/2014/main" val="2533751563"/>
                    </a:ext>
                  </a:extLst>
                </a:gridCol>
                <a:gridCol w="895149">
                  <a:extLst>
                    <a:ext uri="{9D8B030D-6E8A-4147-A177-3AD203B41FA5}">
                      <a16:colId xmlns:a16="http://schemas.microsoft.com/office/drawing/2014/main" val="2416884617"/>
                    </a:ext>
                  </a:extLst>
                </a:gridCol>
                <a:gridCol w="837398">
                  <a:extLst>
                    <a:ext uri="{9D8B030D-6E8A-4147-A177-3AD203B41FA5}">
                      <a16:colId xmlns:a16="http://schemas.microsoft.com/office/drawing/2014/main" val="3078883167"/>
                    </a:ext>
                  </a:extLst>
                </a:gridCol>
                <a:gridCol w="837398">
                  <a:extLst>
                    <a:ext uri="{9D8B030D-6E8A-4147-A177-3AD203B41FA5}">
                      <a16:colId xmlns:a16="http://schemas.microsoft.com/office/drawing/2014/main" val="849678447"/>
                    </a:ext>
                  </a:extLst>
                </a:gridCol>
                <a:gridCol w="907506">
                  <a:extLst>
                    <a:ext uri="{9D8B030D-6E8A-4147-A177-3AD203B41FA5}">
                      <a16:colId xmlns:a16="http://schemas.microsoft.com/office/drawing/2014/main" val="610024990"/>
                    </a:ext>
                  </a:extLst>
                </a:gridCol>
                <a:gridCol w="1614313">
                  <a:extLst>
                    <a:ext uri="{9D8B030D-6E8A-4147-A177-3AD203B41FA5}">
                      <a16:colId xmlns:a16="http://schemas.microsoft.com/office/drawing/2014/main" val="260225722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811773692"/>
                    </a:ext>
                  </a:extLst>
                </a:gridCol>
                <a:gridCol w="1345131">
                  <a:extLst>
                    <a:ext uri="{9D8B030D-6E8A-4147-A177-3AD203B41FA5}">
                      <a16:colId xmlns:a16="http://schemas.microsoft.com/office/drawing/2014/main" val="2378224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攻击方法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样本总数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成功数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失败数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跳过数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zh-CN" sz="1600" b="1" dirty="0">
                          <a:solidFill>
                            <a:schemeClr val="bg1"/>
                          </a:solidFill>
                          <a:effectLst/>
                        </a:rPr>
                        <a:t>ASR (%)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平均修改词数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平均查询次数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语义相似度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041535"/>
                  </a:ext>
                </a:extLst>
              </a:tr>
              <a:tr h="19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TextFooler (Jin 2020)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1000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930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13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57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98.6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600">
                        <a:effectLst/>
                        <a:latin typeface="Instrument Serif Bold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652.5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0.9266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768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BERT-Attack (Li 2020)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171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14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91.9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600">
                        <a:effectLst/>
                        <a:latin typeface="Instrument Serif Bold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267.2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0.9295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849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BERT-Attack (control, ours)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66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134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33.0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0.01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944.4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0.9905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SC-BERT-Attack (ours)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39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161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19.5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0.009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397.1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0.9923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432865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E2EAC21-BA84-B051-D914-D0B34A986EDF}"/>
              </a:ext>
            </a:extLst>
          </p:cNvPr>
          <p:cNvSpPr txBox="1"/>
          <p:nvPr/>
        </p:nvSpPr>
        <p:spPr>
          <a:xfrm>
            <a:off x="549843" y="5859771"/>
            <a:ext cx="10975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SC-BERT-Attack 在</a:t>
            </a:r>
            <a:r>
              <a:rPr lang="zh-CN" altLang="zh-CN" b="1" i="0" dirty="0">
                <a:solidFill>
                  <a:srgbClr val="0F1115"/>
                </a:solidFill>
                <a:effectLst/>
                <a:latin typeface="quote-cjk-patch"/>
              </a:rPr>
              <a:t>效率、隐蔽性、语义保真度</a:t>
            </a:r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三个维度上均优于基线，适合对对抗样本质量要求高的实际场景。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45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C37F-9B08-521A-2F70-2C9ABAB6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E9A6E0-5D1B-3A2D-8C97-6B21B49912BE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项目演示视频，由于</a:t>
            </a:r>
            <a:r>
              <a:rPr lang="en-US" altLang="zh-CN" sz="3200" dirty="0" err="1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github</a:t>
            </a: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大小限制，视频在压缩包中上传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5F542F-6408-4ECB-FFC2-3899A7CEC461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9057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E038E97826DC032EE484E3D3AC372D805545A6F617EF52573259D7E69BC14F92" val="[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F2F2F2&quot;},{&quot;GradientColorId&quot;:&quot;&quot;,&quot;IsFree&quot;:true,&quot;IsGradient&quot;:false,&quot;ImagePath&quot;:&quot;&quot;,&quot;GradientColor&quot;:null,&quot;SimpleColor&quot;:&quot;#E7E6E6&quot;},{&quot;GradientColorId&quot;:&quot;&quot;,&quot;IsFree&quot;:true,&quot;IsGradient&quot;:false,&quot;ImagePath&quot;:&quot;&quot;,&quot;GradientColor&quot;:null,&quot;SimpleColor&quot;:&quot;#D9D9D9&quot;},{&quot;GradientColorId&quot;:&quot;&quot;,&quot;IsFree&quot;:true,&quot;IsGradient&quot;:false,&quot;ImagePath&quot;:&quot;&quot;,&quot;GradientColor&quot;:null,&quot;SimpleColor&quot;:&quot;#BFBFBF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1976</Words>
  <Application>Microsoft Office PowerPoint</Application>
  <PresentationFormat>宽屏</PresentationFormat>
  <Paragraphs>266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Inter</vt:lpstr>
      <vt:lpstr>Instrument Serif</vt:lpstr>
      <vt:lpstr>quote-cjk-patch</vt:lpstr>
      <vt:lpstr>Inter Bold</vt:lpstr>
      <vt:lpstr>Instrument Serif 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fafa</dc:creator>
  <cp:lastModifiedBy>faye yang</cp:lastModifiedBy>
  <cp:revision>7</cp:revision>
  <dcterms:created xsi:type="dcterms:W3CDTF">2026-06-26T15:11:50Z</dcterms:created>
  <dcterms:modified xsi:type="dcterms:W3CDTF">2026-06-28T13:29:28Z</dcterms:modified>
</cp:coreProperties>
</file>